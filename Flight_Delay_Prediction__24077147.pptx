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Times New Roman Bold" panose="02020803070505020304" pitchFamily="18"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768"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hyperlink" Target="https://github.com/DharanidharBeere/Flight-Delay-Predictio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hyperlink" Target="https://www.kaggle.com/datasets/usdot/flight-delays" TargetMode="External"/><Relationship Id="rId4" Type="http://schemas.openxmlformats.org/officeDocument/2006/relationships/hyperlink" Target="https://www.transtats.bts.gov/ONTIM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07/s42405-024-00855-w" TargetMode="External"/><Relationship Id="rId3" Type="http://schemas.openxmlformats.org/officeDocument/2006/relationships/image" Target="../media/image4.png"/><Relationship Id="rId7" Type="http://schemas.openxmlformats.org/officeDocument/2006/relationships/hyperlink" Target="file:///C:\Users\rohit\Downloads\Flight%20Delay%20Prediction%20(Final)\&#160;https:\doi.org\10.1214\aos\1013203451"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oi.org/10.1186/s40537-023-00867-5" TargetMode="External"/><Relationship Id="rId11" Type="http://schemas.openxmlformats.org/officeDocument/2006/relationships/image" Target="../media/image5.svg"/><Relationship Id="rId5" Type="http://schemas.openxmlformats.org/officeDocument/2006/relationships/hyperlink" Target="https://dl.acm.org/doi/epdf/10.1145/2939672.2939785" TargetMode="External"/><Relationship Id="rId10" Type="http://schemas.openxmlformats.org/officeDocument/2006/relationships/hyperlink" Target="https://doi.org/10.1007/978-3-031-63701-8_4" TargetMode="External"/><Relationship Id="rId4" Type="http://schemas.openxmlformats.org/officeDocument/2006/relationships/hyperlink" Target="https://link.springer.com/article/10.1023/A:1010933404324" TargetMode="External"/><Relationship Id="rId9" Type="http://schemas.openxmlformats.org/officeDocument/2006/relationships/hyperlink" Target="https://doi.org/10.1145/3497701.349772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993077" y="1322850"/>
            <a:ext cx="10578455" cy="2782982"/>
          </a:xfrm>
          <a:prstGeom prst="rect">
            <a:avLst/>
          </a:prstGeom>
        </p:spPr>
        <p:txBody>
          <a:bodyPr lIns="0" tIns="0" rIns="0" bIns="0" rtlCol="0" anchor="t">
            <a:spAutoFit/>
          </a:bodyPr>
          <a:lstStyle/>
          <a:p>
            <a:pPr algn="l">
              <a:lnSpc>
                <a:spcPts val="7097"/>
              </a:lnSpc>
            </a:pPr>
            <a:r>
              <a:rPr lang="en-US" sz="7550">
                <a:solidFill>
                  <a:srgbClr val="FFFFFF"/>
                </a:solidFill>
                <a:latin typeface="Times New Roman"/>
                <a:ea typeface="Times New Roman"/>
                <a:cs typeface="Times New Roman"/>
                <a:sym typeface="Times New Roman"/>
              </a:rPr>
              <a:t>Flight Delay Prediction Using Gradient-Boosted Ensemble Models</a:t>
            </a:r>
          </a:p>
        </p:txBody>
      </p:sp>
      <p:sp>
        <p:nvSpPr>
          <p:cNvPr id="4" name="TextBox 4"/>
          <p:cNvSpPr txBox="1"/>
          <p:nvPr/>
        </p:nvSpPr>
        <p:spPr>
          <a:xfrm>
            <a:off x="1076325" y="6215983"/>
            <a:ext cx="8067675" cy="774739"/>
          </a:xfrm>
          <a:prstGeom prst="rect">
            <a:avLst/>
          </a:prstGeom>
        </p:spPr>
        <p:txBody>
          <a:bodyPr lIns="0" tIns="0" rIns="0" bIns="0" rtlCol="0" anchor="t">
            <a:spAutoFit/>
          </a:bodyPr>
          <a:lstStyle/>
          <a:p>
            <a:pPr algn="l">
              <a:lnSpc>
                <a:spcPts val="6122"/>
              </a:lnSpc>
              <a:spcBef>
                <a:spcPct val="0"/>
              </a:spcBef>
            </a:pPr>
            <a:r>
              <a:rPr lang="en-US" sz="4373">
                <a:solidFill>
                  <a:srgbClr val="F4F4ED"/>
                </a:solidFill>
                <a:latin typeface="Times New Roman"/>
                <a:ea typeface="Times New Roman"/>
                <a:cs typeface="Times New Roman"/>
                <a:sym typeface="Times New Roman"/>
              </a:rPr>
              <a:t>Presented by Dharanidhar beere</a:t>
            </a:r>
          </a:p>
        </p:txBody>
      </p:sp>
      <p:sp>
        <p:nvSpPr>
          <p:cNvPr id="5" name="TextBox 5"/>
          <p:cNvSpPr txBox="1"/>
          <p:nvPr/>
        </p:nvSpPr>
        <p:spPr>
          <a:xfrm>
            <a:off x="14544787" y="9238789"/>
            <a:ext cx="3743213" cy="397698"/>
          </a:xfrm>
          <a:prstGeom prst="rect">
            <a:avLst/>
          </a:prstGeom>
        </p:spPr>
        <p:txBody>
          <a:bodyPr lIns="0" tIns="0" rIns="0" bIns="0" rtlCol="0" anchor="t">
            <a:spAutoFit/>
          </a:bodyPr>
          <a:lstStyle/>
          <a:p>
            <a:pPr algn="l">
              <a:lnSpc>
                <a:spcPts val="3120"/>
              </a:lnSpc>
              <a:spcBef>
                <a:spcPct val="0"/>
              </a:spcBef>
            </a:pPr>
            <a:r>
              <a:rPr lang="en-US" sz="2228">
                <a:solidFill>
                  <a:srgbClr val="E5E1DA"/>
                </a:solidFill>
                <a:latin typeface="Times New Roman"/>
                <a:ea typeface="Times New Roman"/>
                <a:cs typeface="Times New Roman"/>
                <a:sym typeface="Times New Roman"/>
              </a:rPr>
              <a:t>24077147</a:t>
            </a:r>
          </a:p>
        </p:txBody>
      </p:sp>
      <p:sp>
        <p:nvSpPr>
          <p:cNvPr id="6" name="TextBox 6"/>
          <p:cNvSpPr txBox="1"/>
          <p:nvPr/>
        </p:nvSpPr>
        <p:spPr>
          <a:xfrm>
            <a:off x="14541548" y="8841552"/>
            <a:ext cx="3586845" cy="397698"/>
          </a:xfrm>
          <a:prstGeom prst="rect">
            <a:avLst/>
          </a:prstGeom>
        </p:spPr>
        <p:txBody>
          <a:bodyPr lIns="0" tIns="0" rIns="0" bIns="0" rtlCol="0" anchor="t">
            <a:spAutoFit/>
          </a:bodyPr>
          <a:lstStyle/>
          <a:p>
            <a:pPr algn="l">
              <a:lnSpc>
                <a:spcPts val="3120"/>
              </a:lnSpc>
              <a:spcBef>
                <a:spcPct val="0"/>
              </a:spcBef>
            </a:pPr>
            <a:r>
              <a:rPr lang="en-US" sz="2228">
                <a:solidFill>
                  <a:srgbClr val="E5E1DA"/>
                </a:solidFill>
                <a:latin typeface="Times New Roman"/>
                <a:ea typeface="Times New Roman"/>
                <a:cs typeface="Times New Roman"/>
                <a:sym typeface="Times New Roman"/>
              </a:rPr>
              <a:t>db24acd@herts.ac.uk</a:t>
            </a:r>
          </a:p>
        </p:txBody>
      </p:sp>
      <p:sp>
        <p:nvSpPr>
          <p:cNvPr id="7" name="Freeform 7"/>
          <p:cNvSpPr/>
          <p:nvPr/>
        </p:nvSpPr>
        <p:spPr>
          <a:xfrm rot="-1542318" flipV="1">
            <a:off x="13654428" y="80032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3"/>
            <a:stretch>
              <a:fillRect/>
            </a:stretch>
          </a:blipFill>
        </p:spPr>
      </p:sp>
      <p:sp>
        <p:nvSpPr>
          <p:cNvPr id="8" name="TextBox 8"/>
          <p:cNvSpPr txBox="1"/>
          <p:nvPr/>
        </p:nvSpPr>
        <p:spPr>
          <a:xfrm>
            <a:off x="1085850" y="6936728"/>
            <a:ext cx="8067675" cy="774739"/>
          </a:xfrm>
          <a:prstGeom prst="rect">
            <a:avLst/>
          </a:prstGeom>
        </p:spPr>
        <p:txBody>
          <a:bodyPr lIns="0" tIns="0" rIns="0" bIns="0" rtlCol="0" anchor="t">
            <a:spAutoFit/>
          </a:bodyPr>
          <a:lstStyle/>
          <a:p>
            <a:pPr algn="l">
              <a:lnSpc>
                <a:spcPts val="6122"/>
              </a:lnSpc>
              <a:spcBef>
                <a:spcPct val="0"/>
              </a:spcBef>
            </a:pPr>
            <a:r>
              <a:rPr lang="en-US" sz="4373">
                <a:solidFill>
                  <a:srgbClr val="F4F4ED"/>
                </a:solidFill>
                <a:latin typeface="Times New Roman"/>
                <a:ea typeface="Times New Roman"/>
                <a:cs typeface="Times New Roman"/>
                <a:sym typeface="Times New Roman"/>
              </a:rPr>
              <a:t>Msc Data Science</a:t>
            </a:r>
          </a:p>
        </p:txBody>
      </p:sp>
      <p:sp>
        <p:nvSpPr>
          <p:cNvPr id="9" name="TextBox 9"/>
          <p:cNvSpPr txBox="1"/>
          <p:nvPr/>
        </p:nvSpPr>
        <p:spPr>
          <a:xfrm>
            <a:off x="1104900" y="7672358"/>
            <a:ext cx="8067675" cy="774739"/>
          </a:xfrm>
          <a:prstGeom prst="rect">
            <a:avLst/>
          </a:prstGeom>
        </p:spPr>
        <p:txBody>
          <a:bodyPr lIns="0" tIns="0" rIns="0" bIns="0" rtlCol="0" anchor="t">
            <a:spAutoFit/>
          </a:bodyPr>
          <a:lstStyle/>
          <a:p>
            <a:pPr algn="l">
              <a:lnSpc>
                <a:spcPts val="6122"/>
              </a:lnSpc>
              <a:spcBef>
                <a:spcPct val="0"/>
              </a:spcBef>
            </a:pPr>
            <a:r>
              <a:rPr lang="en-US" sz="4373">
                <a:solidFill>
                  <a:srgbClr val="F4F4ED"/>
                </a:solidFill>
                <a:latin typeface="Times New Roman"/>
                <a:ea typeface="Times New Roman"/>
                <a:cs typeface="Times New Roman"/>
                <a:sym typeface="Times New Roman"/>
              </a:rPr>
              <a:t>University Of Hertfordshire</a:t>
            </a:r>
          </a:p>
        </p:txBody>
      </p:sp>
      <p:sp>
        <p:nvSpPr>
          <p:cNvPr id="10" name="TextBox 10"/>
          <p:cNvSpPr txBox="1"/>
          <p:nvPr/>
        </p:nvSpPr>
        <p:spPr>
          <a:xfrm>
            <a:off x="1138394" y="8841552"/>
            <a:ext cx="9082608" cy="400594"/>
          </a:xfrm>
          <a:prstGeom prst="rect">
            <a:avLst/>
          </a:prstGeom>
        </p:spPr>
        <p:txBody>
          <a:bodyPr lIns="0" tIns="0" rIns="0" bIns="0" rtlCol="0" anchor="t">
            <a:spAutoFit/>
          </a:bodyPr>
          <a:lstStyle/>
          <a:p>
            <a:pPr algn="l">
              <a:lnSpc>
                <a:spcPts val="3120"/>
              </a:lnSpc>
              <a:spcBef>
                <a:spcPct val="0"/>
              </a:spcBef>
            </a:pPr>
            <a:r>
              <a:rPr lang="en-US" sz="2228">
                <a:solidFill>
                  <a:srgbClr val="E5E1DA"/>
                </a:solidFill>
                <a:latin typeface="Times New Roman"/>
                <a:ea typeface="Times New Roman"/>
                <a:cs typeface="Times New Roman"/>
                <a:sym typeface="Times New Roman"/>
              </a:rPr>
              <a:t>Github Link:</a:t>
            </a:r>
            <a:r>
              <a:rPr lang="en-US" sz="2228" u="sng">
                <a:solidFill>
                  <a:srgbClr val="19ACFF"/>
                </a:solidFill>
                <a:latin typeface="Times New Roman"/>
                <a:ea typeface="Times New Roman"/>
                <a:cs typeface="Times New Roman"/>
                <a:sym typeface="Times New Roman"/>
                <a:hlinkClick r:id="rId4" tooltip="https://github.com/DharanidharBeere/Flight-Delay-Prediction"/>
              </a:rPr>
              <a:t>https://github.com/DharanidharBeere/Flight-Delay-Prediction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4255355" y="46215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grpSp>
        <p:nvGrpSpPr>
          <p:cNvPr id="4" name="Group 4"/>
          <p:cNvGrpSpPr/>
          <p:nvPr/>
        </p:nvGrpSpPr>
        <p:grpSpPr>
          <a:xfrm>
            <a:off x="1028700" y="2442458"/>
            <a:ext cx="16230600" cy="7851031"/>
            <a:chOff x="0" y="0"/>
            <a:chExt cx="21640800" cy="10468042"/>
          </a:xfrm>
        </p:grpSpPr>
        <p:grpSp>
          <p:nvGrpSpPr>
            <p:cNvPr id="5" name="Group 5"/>
            <p:cNvGrpSpPr/>
            <p:nvPr/>
          </p:nvGrpSpPr>
          <p:grpSpPr>
            <a:xfrm>
              <a:off x="0" y="0"/>
              <a:ext cx="21640800" cy="10468042"/>
              <a:chOff x="0" y="0"/>
              <a:chExt cx="4274726" cy="2067761"/>
            </a:xfrm>
          </p:grpSpPr>
          <p:sp>
            <p:nvSpPr>
              <p:cNvPr id="6" name="Freeform 6"/>
              <p:cNvSpPr/>
              <p:nvPr/>
            </p:nvSpPr>
            <p:spPr>
              <a:xfrm>
                <a:off x="0" y="0"/>
                <a:ext cx="4274726" cy="2067761"/>
              </a:xfrm>
              <a:custGeom>
                <a:avLst/>
                <a:gdLst/>
                <a:ahLst/>
                <a:cxnLst/>
                <a:rect l="l" t="t" r="r" b="b"/>
                <a:pathLst>
                  <a:path w="4274726" h="2067761">
                    <a:moveTo>
                      <a:pt x="9540" y="0"/>
                    </a:moveTo>
                    <a:lnTo>
                      <a:pt x="4265186" y="0"/>
                    </a:lnTo>
                    <a:cubicBezTo>
                      <a:pt x="4270455" y="0"/>
                      <a:pt x="4274726" y="4271"/>
                      <a:pt x="4274726" y="9540"/>
                    </a:cubicBezTo>
                    <a:lnTo>
                      <a:pt x="4274726" y="2058221"/>
                    </a:lnTo>
                    <a:cubicBezTo>
                      <a:pt x="4274726" y="2063490"/>
                      <a:pt x="4270455" y="2067761"/>
                      <a:pt x="4265186" y="2067761"/>
                    </a:cubicBezTo>
                    <a:lnTo>
                      <a:pt x="9540" y="2067761"/>
                    </a:lnTo>
                    <a:cubicBezTo>
                      <a:pt x="7010" y="2067761"/>
                      <a:pt x="4583" y="2066756"/>
                      <a:pt x="2794" y="2064967"/>
                    </a:cubicBezTo>
                    <a:cubicBezTo>
                      <a:pt x="1005" y="2063178"/>
                      <a:pt x="0" y="2060752"/>
                      <a:pt x="0" y="2058221"/>
                    </a:cubicBezTo>
                    <a:lnTo>
                      <a:pt x="0" y="9540"/>
                    </a:lnTo>
                    <a:cubicBezTo>
                      <a:pt x="0" y="4271"/>
                      <a:pt x="4271" y="0"/>
                      <a:pt x="9540"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4274726" cy="2105861"/>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538965" y="1077585"/>
              <a:ext cx="17942671" cy="1671320"/>
            </a:xfrm>
            <a:prstGeom prst="rect">
              <a:avLst/>
            </a:prstGeom>
          </p:spPr>
          <p:txBody>
            <a:bodyPr lIns="0" tIns="0" rIns="0" bIns="0" rtlCol="0" anchor="t">
              <a:spAutoFit/>
            </a:bodyPr>
            <a:lstStyle/>
            <a:p>
              <a:pPr algn="l">
                <a:lnSpc>
                  <a:spcPts val="8730"/>
                </a:lnSpc>
              </a:pPr>
              <a:r>
                <a:rPr lang="en-US" sz="9000">
                  <a:solidFill>
                    <a:srgbClr val="F4F4ED"/>
                  </a:solidFill>
                  <a:latin typeface="Times New Roman"/>
                  <a:ea typeface="Times New Roman"/>
                  <a:cs typeface="Times New Roman"/>
                  <a:sym typeface="Times New Roman"/>
                </a:rPr>
                <a:t>Project Overview</a:t>
              </a:r>
            </a:p>
          </p:txBody>
        </p:sp>
        <p:sp>
          <p:nvSpPr>
            <p:cNvPr id="9" name="TextBox 9"/>
            <p:cNvSpPr txBox="1"/>
            <p:nvPr/>
          </p:nvSpPr>
          <p:spPr>
            <a:xfrm>
              <a:off x="1739401" y="3207240"/>
              <a:ext cx="18546767" cy="5066031"/>
            </a:xfrm>
            <a:prstGeom prst="rect">
              <a:avLst/>
            </a:prstGeom>
          </p:spPr>
          <p:txBody>
            <a:bodyPr lIns="0" tIns="0" rIns="0" bIns="0" rtlCol="0" anchor="t">
              <a:spAutoFit/>
            </a:bodyPr>
            <a:lstStyle/>
            <a:p>
              <a:pPr marL="0" lvl="0" indent="0" algn="l">
                <a:lnSpc>
                  <a:spcPts val="3779"/>
                </a:lnSpc>
                <a:spcBef>
                  <a:spcPct val="0"/>
                </a:spcBef>
              </a:pPr>
              <a:r>
                <a:rPr lang="en-US" sz="2799" spc="167">
                  <a:solidFill>
                    <a:srgbClr val="F4F4ED"/>
                  </a:solidFill>
                  <a:latin typeface="Times New Roman"/>
                  <a:ea typeface="Times New Roman"/>
                  <a:cs typeface="Times New Roman"/>
                  <a:sym typeface="Times New Roman"/>
                </a:rPr>
                <a:t>Fl</a:t>
              </a:r>
              <a:r>
                <a:rPr lang="en-US" sz="2799" u="none" spc="167">
                  <a:solidFill>
                    <a:srgbClr val="F4F4ED"/>
                  </a:solidFill>
                  <a:latin typeface="Times New Roman"/>
                  <a:ea typeface="Times New Roman"/>
                  <a:cs typeface="Times New Roman"/>
                  <a:sym typeface="Times New Roman"/>
                </a:rPr>
                <a:t>ight delays are a common problem in the airline industry. They affect passengers, airline operations, and scheduling. Delays can cause extra costs, missed flights, and poor travel experience.</a:t>
              </a:r>
            </a:p>
            <a:p>
              <a:pPr marL="0" lvl="0" indent="0" algn="l">
                <a:lnSpc>
                  <a:spcPts val="3779"/>
                </a:lnSpc>
                <a:spcBef>
                  <a:spcPct val="0"/>
                </a:spcBef>
              </a:pPr>
              <a:endParaRPr lang="en-US" sz="2799" u="none" spc="167">
                <a:solidFill>
                  <a:srgbClr val="F4F4ED"/>
                </a:solidFill>
                <a:latin typeface="Times New Roman"/>
                <a:ea typeface="Times New Roman"/>
                <a:cs typeface="Times New Roman"/>
                <a:sym typeface="Times New Roman"/>
              </a:endParaRPr>
            </a:p>
            <a:p>
              <a:pPr marL="0" lvl="0" indent="0" algn="l">
                <a:lnSpc>
                  <a:spcPts val="3779"/>
                </a:lnSpc>
                <a:spcBef>
                  <a:spcPct val="0"/>
                </a:spcBef>
              </a:pPr>
              <a:endParaRPr lang="en-US" sz="2799" u="none" spc="167">
                <a:solidFill>
                  <a:srgbClr val="F4F4ED"/>
                </a:solidFill>
                <a:latin typeface="Times New Roman"/>
                <a:ea typeface="Times New Roman"/>
                <a:cs typeface="Times New Roman"/>
                <a:sym typeface="Times New Roman"/>
              </a:endParaRPr>
            </a:p>
            <a:p>
              <a:pPr marL="0" lvl="0" indent="0" algn="l">
                <a:lnSpc>
                  <a:spcPts val="3779"/>
                </a:lnSpc>
                <a:spcBef>
                  <a:spcPct val="0"/>
                </a:spcBef>
              </a:pPr>
              <a:r>
                <a:rPr lang="en-US" sz="2799" u="none" spc="167">
                  <a:solidFill>
                    <a:srgbClr val="F4F4ED"/>
                  </a:solidFill>
                  <a:latin typeface="Times New Roman"/>
                  <a:ea typeface="Times New Roman"/>
                  <a:cs typeface="Times New Roman"/>
                  <a:sym typeface="Times New Roman"/>
                </a:rPr>
                <a:t>Machine learning can be used to analyse historical flight data and predict delays. This project focuses on building a prediction model to find on what factors flight delay is occuring.</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8471356" y="-3840201"/>
            <a:ext cx="12221289" cy="8822969"/>
          </a:xfrm>
          <a:custGeom>
            <a:avLst/>
            <a:gdLst/>
            <a:ahLst/>
            <a:cxnLst/>
            <a:rect l="l" t="t" r="r" b="b"/>
            <a:pathLst>
              <a:path w="12221289" h="8822969">
                <a:moveTo>
                  <a:pt x="12221289" y="0"/>
                </a:moveTo>
                <a:lnTo>
                  <a:pt x="0" y="0"/>
                </a:lnTo>
                <a:lnTo>
                  <a:pt x="0" y="8822968"/>
                </a:lnTo>
                <a:lnTo>
                  <a:pt x="12221289" y="8822968"/>
                </a:lnTo>
                <a:lnTo>
                  <a:pt x="12221289" y="0"/>
                </a:lnTo>
                <a:close/>
              </a:path>
            </a:pathLst>
          </a:custGeom>
          <a:blipFill>
            <a:blip r:embed="rId3"/>
            <a:stretch>
              <a:fillRect/>
            </a:stretch>
          </a:blipFill>
        </p:spPr>
      </p:sp>
      <p:grpSp>
        <p:nvGrpSpPr>
          <p:cNvPr id="4" name="Group 4"/>
          <p:cNvGrpSpPr/>
          <p:nvPr/>
        </p:nvGrpSpPr>
        <p:grpSpPr>
          <a:xfrm>
            <a:off x="1028700" y="1647707"/>
            <a:ext cx="8115300" cy="5944492"/>
            <a:chOff x="0" y="0"/>
            <a:chExt cx="10820400" cy="7925990"/>
          </a:xfrm>
        </p:grpSpPr>
        <p:grpSp>
          <p:nvGrpSpPr>
            <p:cNvPr id="5" name="Group 5"/>
            <p:cNvGrpSpPr/>
            <p:nvPr/>
          </p:nvGrpSpPr>
          <p:grpSpPr>
            <a:xfrm>
              <a:off x="0" y="0"/>
              <a:ext cx="10820400" cy="7925990"/>
              <a:chOff x="0" y="0"/>
              <a:chExt cx="2137363" cy="1565628"/>
            </a:xfrm>
          </p:grpSpPr>
          <p:sp>
            <p:nvSpPr>
              <p:cNvPr id="6" name="Freeform 6"/>
              <p:cNvSpPr/>
              <p:nvPr/>
            </p:nvSpPr>
            <p:spPr>
              <a:xfrm>
                <a:off x="0" y="0"/>
                <a:ext cx="2137363" cy="1565628"/>
              </a:xfrm>
              <a:custGeom>
                <a:avLst/>
                <a:gdLst/>
                <a:ahLst/>
                <a:cxnLst/>
                <a:rect l="l" t="t" r="r" b="b"/>
                <a:pathLst>
                  <a:path w="2137363" h="1565628">
                    <a:moveTo>
                      <a:pt x="19080" y="0"/>
                    </a:moveTo>
                    <a:lnTo>
                      <a:pt x="2118283" y="0"/>
                    </a:lnTo>
                    <a:cubicBezTo>
                      <a:pt x="2123343" y="0"/>
                      <a:pt x="2128196" y="2010"/>
                      <a:pt x="2131775" y="5588"/>
                    </a:cubicBezTo>
                    <a:cubicBezTo>
                      <a:pt x="2135353" y="9167"/>
                      <a:pt x="2137363" y="14020"/>
                      <a:pt x="2137363" y="19080"/>
                    </a:cubicBezTo>
                    <a:lnTo>
                      <a:pt x="2137363" y="1546548"/>
                    </a:lnTo>
                    <a:cubicBezTo>
                      <a:pt x="2137363" y="1557085"/>
                      <a:pt x="2128821" y="1565628"/>
                      <a:pt x="2118283" y="1565628"/>
                    </a:cubicBezTo>
                    <a:lnTo>
                      <a:pt x="19080" y="1565628"/>
                    </a:lnTo>
                    <a:cubicBezTo>
                      <a:pt x="8542" y="1565628"/>
                      <a:pt x="0" y="1557085"/>
                      <a:pt x="0" y="1546548"/>
                    </a:cubicBezTo>
                    <a:lnTo>
                      <a:pt x="0" y="19080"/>
                    </a:lnTo>
                    <a:cubicBezTo>
                      <a:pt x="0" y="8542"/>
                      <a:pt x="8542" y="0"/>
                      <a:pt x="19080"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2137363" cy="1603728"/>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205844" y="1860085"/>
              <a:ext cx="9366782" cy="3144520"/>
            </a:xfrm>
            <a:prstGeom prst="rect">
              <a:avLst/>
            </a:prstGeom>
          </p:spPr>
          <p:txBody>
            <a:bodyPr lIns="0" tIns="0" rIns="0" bIns="0" rtlCol="0" anchor="t">
              <a:spAutoFit/>
            </a:bodyPr>
            <a:lstStyle/>
            <a:p>
              <a:pPr algn="l">
                <a:lnSpc>
                  <a:spcPts val="8730"/>
                </a:lnSpc>
              </a:pPr>
              <a:r>
                <a:rPr lang="en-US" sz="9000">
                  <a:solidFill>
                    <a:srgbClr val="FFFFFF"/>
                  </a:solidFill>
                  <a:latin typeface="Times New Roman"/>
                  <a:ea typeface="Times New Roman"/>
                  <a:cs typeface="Times New Roman"/>
                  <a:sym typeface="Times New Roman"/>
                </a:rPr>
                <a:t>Research Question</a:t>
              </a:r>
            </a:p>
          </p:txBody>
        </p:sp>
        <p:sp>
          <p:nvSpPr>
            <p:cNvPr id="9" name="TextBox 9"/>
            <p:cNvSpPr txBox="1"/>
            <p:nvPr/>
          </p:nvSpPr>
          <p:spPr>
            <a:xfrm>
              <a:off x="1332844" y="5403594"/>
              <a:ext cx="7860389" cy="1320800"/>
            </a:xfrm>
            <a:prstGeom prst="rect">
              <a:avLst/>
            </a:prstGeom>
          </p:spPr>
          <p:txBody>
            <a:bodyPr lIns="0" tIns="0" rIns="0" bIns="0" rtlCol="0" anchor="t">
              <a:spAutoFit/>
            </a:bodyPr>
            <a:lstStyle/>
            <a:p>
              <a:pPr marL="0" lvl="0" indent="0" algn="l">
                <a:lnSpc>
                  <a:spcPts val="2699"/>
                </a:lnSpc>
                <a:spcBef>
                  <a:spcPct val="0"/>
                </a:spcBef>
              </a:pPr>
              <a:r>
                <a:rPr lang="en-US" sz="1999" spc="119">
                  <a:solidFill>
                    <a:srgbClr val="FFFFFF"/>
                  </a:solidFill>
                  <a:latin typeface="Times New Roman"/>
                  <a:ea typeface="Times New Roman"/>
                  <a:cs typeface="Times New Roman"/>
                  <a:sym typeface="Times New Roman"/>
                </a:rPr>
                <a:t>Can</a:t>
              </a:r>
              <a:r>
                <a:rPr lang="en-US" sz="1999" u="none" spc="119">
                  <a:solidFill>
                    <a:srgbClr val="FFFFFF"/>
                  </a:solidFill>
                  <a:latin typeface="Times New Roman"/>
                  <a:ea typeface="Times New Roman"/>
                  <a:cs typeface="Times New Roman"/>
                  <a:sym typeface="Times New Roman"/>
                </a:rPr>
                <a:t> ensemble models (e.g., XGBoost) improve flight delay prediction compared to traditional models?</a:t>
              </a:r>
            </a:p>
          </p:txBody>
        </p:sp>
      </p:grpSp>
      <p:grpSp>
        <p:nvGrpSpPr>
          <p:cNvPr id="10" name="Group 10"/>
          <p:cNvGrpSpPr/>
          <p:nvPr/>
        </p:nvGrpSpPr>
        <p:grpSpPr>
          <a:xfrm>
            <a:off x="9321397" y="1095257"/>
            <a:ext cx="7188556" cy="8023496"/>
            <a:chOff x="0" y="0"/>
            <a:chExt cx="9584741" cy="10697995"/>
          </a:xfrm>
        </p:grpSpPr>
        <p:grpSp>
          <p:nvGrpSpPr>
            <p:cNvPr id="11" name="Group 11"/>
            <p:cNvGrpSpPr/>
            <p:nvPr/>
          </p:nvGrpSpPr>
          <p:grpSpPr>
            <a:xfrm>
              <a:off x="0" y="0"/>
              <a:ext cx="9330748" cy="3415370"/>
              <a:chOff x="0" y="0"/>
              <a:chExt cx="2342659" cy="857492"/>
            </a:xfrm>
          </p:grpSpPr>
          <p:sp>
            <p:nvSpPr>
              <p:cNvPr id="12" name="Freeform 12"/>
              <p:cNvSpPr/>
              <p:nvPr/>
            </p:nvSpPr>
            <p:spPr>
              <a:xfrm>
                <a:off x="0" y="0"/>
                <a:ext cx="2342659" cy="857492"/>
              </a:xfrm>
              <a:custGeom>
                <a:avLst/>
                <a:gdLst/>
                <a:ahLst/>
                <a:cxnLst/>
                <a:rect l="l" t="t" r="r" b="b"/>
                <a:pathLst>
                  <a:path w="2342659" h="857492">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2342659" cy="8955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0" y="3689455"/>
              <a:ext cx="9330748" cy="3415370"/>
              <a:chOff x="0" y="0"/>
              <a:chExt cx="2342659" cy="857492"/>
            </a:xfrm>
          </p:grpSpPr>
          <p:sp>
            <p:nvSpPr>
              <p:cNvPr id="15" name="Freeform 15"/>
              <p:cNvSpPr/>
              <p:nvPr/>
            </p:nvSpPr>
            <p:spPr>
              <a:xfrm>
                <a:off x="0" y="0"/>
                <a:ext cx="2342659" cy="857492"/>
              </a:xfrm>
              <a:custGeom>
                <a:avLst/>
                <a:gdLst/>
                <a:ahLst/>
                <a:cxnLst/>
                <a:rect l="l" t="t" r="r" b="b"/>
                <a:pathLst>
                  <a:path w="2342659" h="857492">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id="16" name="TextBox 16"/>
              <p:cNvSpPr txBox="1"/>
              <p:nvPr/>
            </p:nvSpPr>
            <p:spPr>
              <a:xfrm>
                <a:off x="0" y="-38100"/>
                <a:ext cx="2342659" cy="895592"/>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0" y="7282625"/>
              <a:ext cx="9330748" cy="3415370"/>
              <a:chOff x="0" y="0"/>
              <a:chExt cx="2342659" cy="857492"/>
            </a:xfrm>
          </p:grpSpPr>
          <p:sp>
            <p:nvSpPr>
              <p:cNvPr id="18" name="Freeform 18"/>
              <p:cNvSpPr/>
              <p:nvPr/>
            </p:nvSpPr>
            <p:spPr>
              <a:xfrm>
                <a:off x="0" y="0"/>
                <a:ext cx="2342659" cy="857492"/>
              </a:xfrm>
              <a:custGeom>
                <a:avLst/>
                <a:gdLst/>
                <a:ahLst/>
                <a:cxnLst/>
                <a:rect l="l" t="t" r="r" b="b"/>
                <a:pathLst>
                  <a:path w="2342659" h="857492">
                    <a:moveTo>
                      <a:pt x="22126" y="0"/>
                    </a:moveTo>
                    <a:lnTo>
                      <a:pt x="2320533" y="0"/>
                    </a:lnTo>
                    <a:cubicBezTo>
                      <a:pt x="2326401" y="0"/>
                      <a:pt x="2332029" y="2331"/>
                      <a:pt x="2336178" y="6481"/>
                    </a:cubicBezTo>
                    <a:cubicBezTo>
                      <a:pt x="2340327" y="10630"/>
                      <a:pt x="2342659" y="16258"/>
                      <a:pt x="2342659" y="22126"/>
                    </a:cubicBezTo>
                    <a:lnTo>
                      <a:pt x="2342659" y="835367"/>
                    </a:lnTo>
                    <a:cubicBezTo>
                      <a:pt x="2342659" y="841235"/>
                      <a:pt x="2340327" y="846862"/>
                      <a:pt x="2336178" y="851012"/>
                    </a:cubicBezTo>
                    <a:cubicBezTo>
                      <a:pt x="2332029" y="855161"/>
                      <a:pt x="2326401" y="857492"/>
                      <a:pt x="2320533" y="857492"/>
                    </a:cubicBezTo>
                    <a:lnTo>
                      <a:pt x="22126" y="857492"/>
                    </a:lnTo>
                    <a:cubicBezTo>
                      <a:pt x="16258" y="857492"/>
                      <a:pt x="10630" y="855161"/>
                      <a:pt x="6481" y="851012"/>
                    </a:cubicBezTo>
                    <a:cubicBezTo>
                      <a:pt x="2331" y="846862"/>
                      <a:pt x="0" y="841235"/>
                      <a:pt x="0" y="835367"/>
                    </a:cubicBezTo>
                    <a:lnTo>
                      <a:pt x="0" y="22126"/>
                    </a:lnTo>
                    <a:cubicBezTo>
                      <a:pt x="0" y="16258"/>
                      <a:pt x="2331" y="10630"/>
                      <a:pt x="6481" y="6481"/>
                    </a:cubicBezTo>
                    <a:cubicBezTo>
                      <a:pt x="10630" y="2331"/>
                      <a:pt x="16258" y="0"/>
                      <a:pt x="22126" y="0"/>
                    </a:cubicBezTo>
                    <a:close/>
                  </a:path>
                </a:pathLst>
              </a:custGeom>
              <a:solidFill>
                <a:srgbClr val="04001E"/>
              </a:solidFill>
              <a:ln w="38100" cap="sq">
                <a:solidFill>
                  <a:srgbClr val="E5E1DA"/>
                </a:solidFill>
                <a:prstDash val="solid"/>
                <a:miter/>
              </a:ln>
            </p:spPr>
          </p:sp>
          <p:sp>
            <p:nvSpPr>
              <p:cNvPr id="19" name="TextBox 19"/>
              <p:cNvSpPr txBox="1"/>
              <p:nvPr/>
            </p:nvSpPr>
            <p:spPr>
              <a:xfrm>
                <a:off x="0" y="-38100"/>
                <a:ext cx="2342659" cy="89559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688245" y="1049820"/>
              <a:ext cx="2105270" cy="1468130"/>
            </a:xfrm>
            <a:prstGeom prst="rect">
              <a:avLst/>
            </a:prstGeom>
          </p:spPr>
          <p:txBody>
            <a:bodyPr lIns="0" tIns="0" rIns="0" bIns="0" rtlCol="0" anchor="t">
              <a:spAutoFit/>
            </a:bodyPr>
            <a:lstStyle/>
            <a:p>
              <a:pPr algn="l">
                <a:lnSpc>
                  <a:spcPts val="7680"/>
                </a:lnSpc>
              </a:pPr>
              <a:r>
                <a:rPr lang="en-US" sz="8000">
                  <a:solidFill>
                    <a:srgbClr val="FFFFFF"/>
                  </a:solidFill>
                  <a:latin typeface="Times New Roman"/>
                  <a:ea typeface="Times New Roman"/>
                  <a:cs typeface="Times New Roman"/>
                  <a:sym typeface="Times New Roman"/>
                </a:rPr>
                <a:t>01.</a:t>
              </a:r>
            </a:p>
          </p:txBody>
        </p:sp>
        <p:sp>
          <p:nvSpPr>
            <p:cNvPr id="21" name="TextBox 21"/>
            <p:cNvSpPr txBox="1"/>
            <p:nvPr/>
          </p:nvSpPr>
          <p:spPr>
            <a:xfrm>
              <a:off x="688245" y="4739274"/>
              <a:ext cx="2105270" cy="1468130"/>
            </a:xfrm>
            <a:prstGeom prst="rect">
              <a:avLst/>
            </a:prstGeom>
          </p:spPr>
          <p:txBody>
            <a:bodyPr lIns="0" tIns="0" rIns="0" bIns="0" rtlCol="0" anchor="t">
              <a:spAutoFit/>
            </a:bodyPr>
            <a:lstStyle/>
            <a:p>
              <a:pPr algn="l">
                <a:lnSpc>
                  <a:spcPts val="7680"/>
                </a:lnSpc>
              </a:pPr>
              <a:r>
                <a:rPr lang="en-US" sz="8000">
                  <a:solidFill>
                    <a:srgbClr val="FFFFFF"/>
                  </a:solidFill>
                  <a:latin typeface="Times New Roman"/>
                  <a:ea typeface="Times New Roman"/>
                  <a:cs typeface="Times New Roman"/>
                  <a:sym typeface="Times New Roman"/>
                </a:rPr>
                <a:t>02.</a:t>
              </a:r>
            </a:p>
          </p:txBody>
        </p:sp>
        <p:sp>
          <p:nvSpPr>
            <p:cNvPr id="22" name="TextBox 22"/>
            <p:cNvSpPr txBox="1"/>
            <p:nvPr/>
          </p:nvSpPr>
          <p:spPr>
            <a:xfrm>
              <a:off x="688245" y="8332445"/>
              <a:ext cx="2105270" cy="1468130"/>
            </a:xfrm>
            <a:prstGeom prst="rect">
              <a:avLst/>
            </a:prstGeom>
          </p:spPr>
          <p:txBody>
            <a:bodyPr lIns="0" tIns="0" rIns="0" bIns="0" rtlCol="0" anchor="t">
              <a:spAutoFit/>
            </a:bodyPr>
            <a:lstStyle/>
            <a:p>
              <a:pPr algn="l">
                <a:lnSpc>
                  <a:spcPts val="7680"/>
                </a:lnSpc>
              </a:pPr>
              <a:r>
                <a:rPr lang="en-US" sz="8000">
                  <a:solidFill>
                    <a:srgbClr val="FFFFFF"/>
                  </a:solidFill>
                  <a:latin typeface="Times New Roman"/>
                  <a:ea typeface="Times New Roman"/>
                  <a:cs typeface="Times New Roman"/>
                  <a:sym typeface="Times New Roman"/>
                </a:rPr>
                <a:t>03.</a:t>
              </a:r>
            </a:p>
          </p:txBody>
        </p:sp>
        <p:sp>
          <p:nvSpPr>
            <p:cNvPr id="23" name="TextBox 23"/>
            <p:cNvSpPr txBox="1"/>
            <p:nvPr/>
          </p:nvSpPr>
          <p:spPr>
            <a:xfrm>
              <a:off x="2482404" y="1660060"/>
              <a:ext cx="6187932" cy="1624965"/>
            </a:xfrm>
            <a:prstGeom prst="rect">
              <a:avLst/>
            </a:prstGeom>
          </p:spPr>
          <p:txBody>
            <a:bodyPr lIns="0" tIns="0" rIns="0" bIns="0" rtlCol="0" anchor="t">
              <a:spAutoFit/>
            </a:bodyPr>
            <a:lstStyle/>
            <a:p>
              <a:pPr algn="just">
                <a:lnSpc>
                  <a:spcPts val="3374"/>
                </a:lnSpc>
                <a:spcBef>
                  <a:spcPct val="0"/>
                </a:spcBef>
              </a:pPr>
              <a:r>
                <a:rPr lang="en-US" sz="2499" spc="39">
                  <a:solidFill>
                    <a:srgbClr val="FFFFFF"/>
                  </a:solidFill>
                  <a:latin typeface="Times New Roman"/>
                  <a:ea typeface="Times New Roman"/>
                  <a:cs typeface="Times New Roman"/>
                  <a:sym typeface="Times New Roman"/>
                </a:rPr>
                <a:t>C</a:t>
              </a:r>
              <a:r>
                <a:rPr lang="en-US" sz="2499" u="none" spc="39">
                  <a:solidFill>
                    <a:srgbClr val="FFFFFF"/>
                  </a:solidFill>
                  <a:latin typeface="Times New Roman"/>
                  <a:ea typeface="Times New Roman"/>
                  <a:cs typeface="Times New Roman"/>
                  <a:sym typeface="Times New Roman"/>
                </a:rPr>
                <a:t>ompare multiple ML models</a:t>
              </a:r>
            </a:p>
            <a:p>
              <a:pPr algn="just">
                <a:lnSpc>
                  <a:spcPts val="3374"/>
                </a:lnSpc>
                <a:spcBef>
                  <a:spcPct val="0"/>
                </a:spcBef>
              </a:pPr>
              <a:endParaRPr lang="en-US" sz="2499" u="none" spc="39">
                <a:solidFill>
                  <a:srgbClr val="FFFFFF"/>
                </a:solidFill>
                <a:latin typeface="Times New Roman"/>
                <a:ea typeface="Times New Roman"/>
                <a:cs typeface="Times New Roman"/>
                <a:sym typeface="Times New Roman"/>
              </a:endParaRPr>
            </a:p>
            <a:p>
              <a:pPr marL="0" lvl="0" indent="0" algn="just">
                <a:lnSpc>
                  <a:spcPts val="3104"/>
                </a:lnSpc>
                <a:spcBef>
                  <a:spcPct val="0"/>
                </a:spcBef>
              </a:pPr>
              <a:endParaRPr lang="en-US" sz="2499" u="none" spc="39">
                <a:solidFill>
                  <a:srgbClr val="FFFFFF"/>
                </a:solidFill>
                <a:latin typeface="Times New Roman"/>
                <a:ea typeface="Times New Roman"/>
                <a:cs typeface="Times New Roman"/>
                <a:sym typeface="Times New Roman"/>
              </a:endParaRPr>
            </a:p>
          </p:txBody>
        </p:sp>
        <p:sp>
          <p:nvSpPr>
            <p:cNvPr id="24" name="TextBox 24"/>
            <p:cNvSpPr txBox="1"/>
            <p:nvPr/>
          </p:nvSpPr>
          <p:spPr>
            <a:xfrm>
              <a:off x="2652011" y="4943632"/>
              <a:ext cx="5848718" cy="1660525"/>
            </a:xfrm>
            <a:prstGeom prst="rect">
              <a:avLst/>
            </a:prstGeom>
          </p:spPr>
          <p:txBody>
            <a:bodyPr lIns="0" tIns="0" rIns="0" bIns="0" rtlCol="0" anchor="t">
              <a:spAutoFit/>
            </a:bodyPr>
            <a:lstStyle/>
            <a:p>
              <a:pPr algn="l">
                <a:lnSpc>
                  <a:spcPts val="3374"/>
                </a:lnSpc>
                <a:spcBef>
                  <a:spcPct val="0"/>
                </a:spcBef>
              </a:pPr>
              <a:r>
                <a:rPr lang="en-US" sz="2499" spc="39">
                  <a:solidFill>
                    <a:srgbClr val="FFFFFF"/>
                  </a:solidFill>
                  <a:latin typeface="Times New Roman"/>
                  <a:ea typeface="Times New Roman"/>
                  <a:cs typeface="Times New Roman"/>
                  <a:sym typeface="Times New Roman"/>
                </a:rPr>
                <a:t>Ev</a:t>
              </a:r>
              <a:r>
                <a:rPr lang="en-US" sz="2499" u="none" spc="39">
                  <a:solidFill>
                    <a:srgbClr val="FFFFFF"/>
                  </a:solidFill>
                  <a:latin typeface="Times New Roman"/>
                  <a:ea typeface="Times New Roman"/>
                  <a:cs typeface="Times New Roman"/>
                  <a:sym typeface="Times New Roman"/>
                </a:rPr>
                <a:t>aluate using ROC-AUC, Accuracy</a:t>
              </a:r>
            </a:p>
            <a:p>
              <a:pPr marL="0" lvl="0" indent="0" algn="l">
                <a:lnSpc>
                  <a:spcPts val="3374"/>
                </a:lnSpc>
                <a:spcBef>
                  <a:spcPct val="0"/>
                </a:spcBef>
              </a:pPr>
              <a:endParaRPr lang="en-US" sz="2499" u="none" spc="39">
                <a:solidFill>
                  <a:srgbClr val="FFFFFF"/>
                </a:solidFill>
                <a:latin typeface="Times New Roman"/>
                <a:ea typeface="Times New Roman"/>
                <a:cs typeface="Times New Roman"/>
                <a:sym typeface="Times New Roman"/>
              </a:endParaRPr>
            </a:p>
          </p:txBody>
        </p:sp>
        <p:sp>
          <p:nvSpPr>
            <p:cNvPr id="25" name="TextBox 25"/>
            <p:cNvSpPr txBox="1"/>
            <p:nvPr/>
          </p:nvSpPr>
          <p:spPr>
            <a:xfrm>
              <a:off x="2482404" y="8759000"/>
              <a:ext cx="7102337" cy="1660525"/>
            </a:xfrm>
            <a:prstGeom prst="rect">
              <a:avLst/>
            </a:prstGeom>
          </p:spPr>
          <p:txBody>
            <a:bodyPr lIns="0" tIns="0" rIns="0" bIns="0" rtlCol="0" anchor="t">
              <a:spAutoFit/>
            </a:bodyPr>
            <a:lstStyle/>
            <a:p>
              <a:pPr algn="l">
                <a:lnSpc>
                  <a:spcPts val="3374"/>
                </a:lnSpc>
                <a:spcBef>
                  <a:spcPct val="0"/>
                </a:spcBef>
              </a:pPr>
              <a:r>
                <a:rPr lang="en-US" sz="2499" spc="39">
                  <a:solidFill>
                    <a:srgbClr val="FFFFFF"/>
                  </a:solidFill>
                  <a:latin typeface="Times New Roman"/>
                  <a:ea typeface="Times New Roman"/>
                  <a:cs typeface="Times New Roman"/>
                  <a:sym typeface="Times New Roman"/>
                </a:rPr>
                <a:t>I</a:t>
              </a:r>
              <a:r>
                <a:rPr lang="en-US" sz="2499" u="none" spc="39">
                  <a:solidFill>
                    <a:srgbClr val="FFFFFF"/>
                  </a:solidFill>
                  <a:latin typeface="Times New Roman"/>
                  <a:ea typeface="Times New Roman"/>
                  <a:cs typeface="Times New Roman"/>
                  <a:sym typeface="Times New Roman"/>
                </a:rPr>
                <a:t>dentify key delay factors</a:t>
              </a:r>
            </a:p>
            <a:p>
              <a:pPr marL="0" lvl="0" indent="0" algn="l">
                <a:lnSpc>
                  <a:spcPts val="3374"/>
                </a:lnSpc>
                <a:spcBef>
                  <a:spcPct val="0"/>
                </a:spcBef>
              </a:pPr>
              <a:endParaRPr lang="en-US" sz="2499" u="none" spc="39">
                <a:solidFill>
                  <a:srgbClr val="FFFFFF"/>
                </a:solidFill>
                <a:latin typeface="Times New Roman"/>
                <a:ea typeface="Times New Roman"/>
                <a:cs typeface="Times New Roman"/>
                <a:sym typeface="Times New Roman"/>
              </a:endParaRPr>
            </a:p>
            <a:p>
              <a:pPr marL="0" lvl="0" indent="0" algn="l">
                <a:lnSpc>
                  <a:spcPts val="3374"/>
                </a:lnSpc>
                <a:spcBef>
                  <a:spcPct val="0"/>
                </a:spcBef>
              </a:pPr>
              <a:endParaRPr lang="en-US" sz="2499" u="none" spc="39">
                <a:solidFill>
                  <a:srgbClr val="FFFFFF"/>
                </a:solidFill>
                <a:latin typeface="Times New Roman"/>
                <a:ea typeface="Times New Roman"/>
                <a:cs typeface="Times New Roman"/>
                <a:sym typeface="Times New Roman"/>
              </a:endParaRPr>
            </a:p>
          </p:txBody>
        </p:sp>
      </p:grpSp>
      <p:sp>
        <p:nvSpPr>
          <p:cNvPr id="26" name="Freeform 26"/>
          <p:cNvSpPr/>
          <p:nvPr/>
        </p:nvSpPr>
        <p:spPr>
          <a:xfrm>
            <a:off x="16500433" y="8222333"/>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8844239" y="322201"/>
            <a:ext cx="12221289" cy="8822969"/>
          </a:xfrm>
          <a:custGeom>
            <a:avLst/>
            <a:gdLst/>
            <a:ahLst/>
            <a:cxnLst/>
            <a:rect l="l" t="t" r="r" b="b"/>
            <a:pathLst>
              <a:path w="12221289" h="8822969">
                <a:moveTo>
                  <a:pt x="12221289" y="0"/>
                </a:moveTo>
                <a:lnTo>
                  <a:pt x="0" y="0"/>
                </a:lnTo>
                <a:lnTo>
                  <a:pt x="0" y="8822969"/>
                </a:lnTo>
                <a:lnTo>
                  <a:pt x="12221289" y="8822969"/>
                </a:lnTo>
                <a:lnTo>
                  <a:pt x="12221289" y="0"/>
                </a:lnTo>
                <a:close/>
              </a:path>
            </a:pathLst>
          </a:custGeom>
          <a:blipFill>
            <a:blip r:embed="rId3"/>
            <a:stretch>
              <a:fillRect/>
            </a:stretch>
          </a:blipFill>
        </p:spPr>
      </p:sp>
      <p:grpSp>
        <p:nvGrpSpPr>
          <p:cNvPr id="4" name="Group 4"/>
          <p:cNvGrpSpPr/>
          <p:nvPr/>
        </p:nvGrpSpPr>
        <p:grpSpPr>
          <a:xfrm>
            <a:off x="1028700" y="1632833"/>
            <a:ext cx="8397958" cy="9044972"/>
            <a:chOff x="0" y="0"/>
            <a:chExt cx="11197278" cy="12059963"/>
          </a:xfrm>
        </p:grpSpPr>
        <p:grpSp>
          <p:nvGrpSpPr>
            <p:cNvPr id="5" name="Group 5"/>
            <p:cNvGrpSpPr/>
            <p:nvPr/>
          </p:nvGrpSpPr>
          <p:grpSpPr>
            <a:xfrm>
              <a:off x="0" y="0"/>
              <a:ext cx="11197278" cy="12059963"/>
              <a:chOff x="0" y="0"/>
              <a:chExt cx="2211808" cy="2382215"/>
            </a:xfrm>
          </p:grpSpPr>
          <p:sp>
            <p:nvSpPr>
              <p:cNvPr id="6" name="Freeform 6"/>
              <p:cNvSpPr/>
              <p:nvPr/>
            </p:nvSpPr>
            <p:spPr>
              <a:xfrm>
                <a:off x="0" y="0"/>
                <a:ext cx="2211808" cy="2382215"/>
              </a:xfrm>
              <a:custGeom>
                <a:avLst/>
                <a:gdLst/>
                <a:ahLst/>
                <a:cxnLst/>
                <a:rect l="l" t="t" r="r" b="b"/>
                <a:pathLst>
                  <a:path w="2211808" h="2382215">
                    <a:moveTo>
                      <a:pt x="18438" y="0"/>
                    </a:moveTo>
                    <a:lnTo>
                      <a:pt x="2193370" y="0"/>
                    </a:lnTo>
                    <a:cubicBezTo>
                      <a:pt x="2203553" y="0"/>
                      <a:pt x="2211808" y="8255"/>
                      <a:pt x="2211808" y="18438"/>
                    </a:cubicBezTo>
                    <a:lnTo>
                      <a:pt x="2211808" y="2363777"/>
                    </a:lnTo>
                    <a:cubicBezTo>
                      <a:pt x="2211808" y="2368667"/>
                      <a:pt x="2209865" y="2373357"/>
                      <a:pt x="2206408" y="2376815"/>
                    </a:cubicBezTo>
                    <a:cubicBezTo>
                      <a:pt x="2202950" y="2380272"/>
                      <a:pt x="2198260" y="2382215"/>
                      <a:pt x="2193370" y="2382215"/>
                    </a:cubicBezTo>
                    <a:lnTo>
                      <a:pt x="18438" y="2382215"/>
                    </a:lnTo>
                    <a:cubicBezTo>
                      <a:pt x="13548" y="2382215"/>
                      <a:pt x="8858" y="2380272"/>
                      <a:pt x="5400" y="2376815"/>
                    </a:cubicBezTo>
                    <a:cubicBezTo>
                      <a:pt x="1943" y="2373357"/>
                      <a:pt x="0" y="2368667"/>
                      <a:pt x="0" y="2363777"/>
                    </a:cubicBezTo>
                    <a:lnTo>
                      <a:pt x="0" y="18438"/>
                    </a:lnTo>
                    <a:cubicBezTo>
                      <a:pt x="0" y="8255"/>
                      <a:pt x="8255" y="0"/>
                      <a:pt x="18438"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2211808" cy="2420315"/>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10959" y="792135"/>
              <a:ext cx="8551712" cy="1671320"/>
            </a:xfrm>
            <a:prstGeom prst="rect">
              <a:avLst/>
            </a:prstGeom>
          </p:spPr>
          <p:txBody>
            <a:bodyPr lIns="0" tIns="0" rIns="0" bIns="0" rtlCol="0" anchor="t">
              <a:spAutoFit/>
            </a:bodyPr>
            <a:lstStyle/>
            <a:p>
              <a:pPr algn="l">
                <a:lnSpc>
                  <a:spcPts val="8730"/>
                </a:lnSpc>
              </a:pPr>
              <a:r>
                <a:rPr lang="en-US" sz="9000">
                  <a:solidFill>
                    <a:srgbClr val="FFFFFF"/>
                  </a:solidFill>
                  <a:latin typeface="Times New Roman"/>
                  <a:ea typeface="Times New Roman"/>
                  <a:cs typeface="Times New Roman"/>
                  <a:sym typeface="Times New Roman"/>
                </a:rPr>
                <a:t>Dataset</a:t>
              </a:r>
            </a:p>
          </p:txBody>
        </p:sp>
        <p:sp>
          <p:nvSpPr>
            <p:cNvPr id="9" name="TextBox 9"/>
            <p:cNvSpPr txBox="1"/>
            <p:nvPr/>
          </p:nvSpPr>
          <p:spPr>
            <a:xfrm>
              <a:off x="310959" y="3032815"/>
              <a:ext cx="10648280" cy="5582512"/>
            </a:xfrm>
            <a:prstGeom prst="rect">
              <a:avLst/>
            </a:prstGeom>
          </p:spPr>
          <p:txBody>
            <a:bodyPr lIns="0" tIns="0" rIns="0" bIns="0" rtlCol="0" anchor="t">
              <a:spAutoFit/>
            </a:bodyPr>
            <a:lstStyle/>
            <a:p>
              <a:pPr marL="0" lvl="0" indent="0" algn="l">
                <a:lnSpc>
                  <a:spcPts val="3329"/>
                </a:lnSpc>
                <a:spcBef>
                  <a:spcPct val="0"/>
                </a:spcBef>
              </a:pPr>
              <a:r>
                <a:rPr lang="en-US" sz="2466" spc="147">
                  <a:solidFill>
                    <a:srgbClr val="FFFFFF"/>
                  </a:solidFill>
                  <a:latin typeface="Times New Roman"/>
                  <a:ea typeface="Times New Roman"/>
                  <a:cs typeface="Times New Roman"/>
                  <a:sym typeface="Times New Roman"/>
                </a:rPr>
                <a:t>P</a:t>
              </a:r>
              <a:r>
                <a:rPr lang="en-US" sz="2466" u="none" spc="147">
                  <a:solidFill>
                    <a:srgbClr val="FFFFFF"/>
                  </a:solidFill>
                  <a:latin typeface="Times New Roman"/>
                  <a:ea typeface="Times New Roman"/>
                  <a:cs typeface="Times New Roman"/>
                  <a:sym typeface="Times New Roman"/>
                </a:rPr>
                <a:t>rimary Dataset (Main):</a:t>
              </a:r>
            </a:p>
            <a:p>
              <a:pPr marL="0" lvl="0" indent="0" algn="l">
                <a:lnSpc>
                  <a:spcPts val="3329"/>
                </a:lnSpc>
                <a:spcBef>
                  <a:spcPct val="0"/>
                </a:spcBef>
              </a:pPr>
              <a:r>
                <a:rPr lang="en-US" sz="2466" u="none" spc="147">
                  <a:solidFill>
                    <a:srgbClr val="FFFFFF"/>
                  </a:solidFill>
                  <a:latin typeface="Times New Roman"/>
                  <a:ea typeface="Times New Roman"/>
                  <a:cs typeface="Times New Roman"/>
                  <a:sym typeface="Times New Roman"/>
                </a:rPr>
                <a:t> U.S. Bureau of Transportation Statistics – Airline On-Time Performance Data</a:t>
              </a:r>
            </a:p>
            <a:p>
              <a:pPr marL="0" lvl="0" indent="0" algn="l">
                <a:lnSpc>
                  <a:spcPts val="3329"/>
                </a:lnSpc>
                <a:spcBef>
                  <a:spcPct val="0"/>
                </a:spcBef>
              </a:pPr>
              <a:r>
                <a:rPr lang="en-US" sz="2466" u="sng" spc="147">
                  <a:solidFill>
                    <a:srgbClr val="FFFFFF"/>
                  </a:solidFill>
                  <a:latin typeface="Times New Roman"/>
                  <a:ea typeface="Times New Roman"/>
                  <a:cs typeface="Times New Roman"/>
                  <a:sym typeface="Times New Roman"/>
                  <a:hlinkClick r:id="rId4" tooltip="https://www.transtats.bts.gov/ONTIME/"/>
                </a:rPr>
                <a:t>https://www.transtats.bts.gov/ONTIME/</a:t>
              </a:r>
            </a:p>
            <a:p>
              <a:pPr marL="0" lvl="0" indent="0" algn="l">
                <a:lnSpc>
                  <a:spcPts val="3329"/>
                </a:lnSpc>
                <a:spcBef>
                  <a:spcPct val="0"/>
                </a:spcBef>
              </a:pPr>
              <a:r>
                <a:rPr lang="en-US" sz="2466" u="none" spc="147">
                  <a:solidFill>
                    <a:srgbClr val="FFFFFF"/>
                  </a:solidFill>
                  <a:latin typeface="Times New Roman"/>
                  <a:ea typeface="Times New Roman"/>
                  <a:cs typeface="Times New Roman"/>
                  <a:sym typeface="Times New Roman"/>
                </a:rPr>
                <a:t>Alternative / Mirror Dataset (Same data, easier access):</a:t>
              </a:r>
            </a:p>
            <a:p>
              <a:pPr marL="0" lvl="0" indent="0" algn="l">
                <a:lnSpc>
                  <a:spcPts val="3329"/>
                </a:lnSpc>
                <a:spcBef>
                  <a:spcPct val="0"/>
                </a:spcBef>
              </a:pPr>
              <a:r>
                <a:rPr lang="en-US" sz="2466" u="none" spc="147">
                  <a:solidFill>
                    <a:srgbClr val="FFFFFF"/>
                  </a:solidFill>
                  <a:latin typeface="Times New Roman"/>
                  <a:ea typeface="Times New Roman"/>
                  <a:cs typeface="Times New Roman"/>
                  <a:sym typeface="Times New Roman"/>
                </a:rPr>
                <a:t> Kaggle – U.S. Flight Delays and Cancellations</a:t>
              </a:r>
            </a:p>
            <a:p>
              <a:pPr marL="0" lvl="0" indent="0" algn="l">
                <a:lnSpc>
                  <a:spcPts val="3329"/>
                </a:lnSpc>
                <a:spcBef>
                  <a:spcPct val="0"/>
                </a:spcBef>
              </a:pPr>
              <a:r>
                <a:rPr lang="en-US" sz="2466" u="sng" spc="147">
                  <a:solidFill>
                    <a:srgbClr val="FFFFFF"/>
                  </a:solidFill>
                  <a:latin typeface="Times New Roman"/>
                  <a:ea typeface="Times New Roman"/>
                  <a:cs typeface="Times New Roman"/>
                  <a:sym typeface="Times New Roman"/>
                  <a:hlinkClick r:id="rId5" tooltip="https://www.kaggle.com/datasets/usdot/flight-delays"/>
                </a:rPr>
                <a:t>https://www.kaggle.com/datasets/usdot/flight-delays</a:t>
              </a:r>
            </a:p>
            <a:p>
              <a:pPr marL="0" lvl="0" indent="0" algn="l">
                <a:lnSpc>
                  <a:spcPts val="3329"/>
                </a:lnSpc>
                <a:spcBef>
                  <a:spcPct val="0"/>
                </a:spcBef>
              </a:pPr>
              <a:endParaRPr lang="en-US" sz="2466" u="sng" spc="147">
                <a:solidFill>
                  <a:srgbClr val="FFFFFF"/>
                </a:solidFill>
                <a:latin typeface="Times New Roman"/>
                <a:ea typeface="Times New Roman"/>
                <a:cs typeface="Times New Roman"/>
                <a:sym typeface="Times New Roman"/>
                <a:hlinkClick r:id="rId5" tooltip="https://www.kaggle.com/datasets/usdot/flight-delays"/>
              </a:endParaRPr>
            </a:p>
            <a:p>
              <a:pPr marL="0" lvl="0" indent="0" algn="l">
                <a:lnSpc>
                  <a:spcPts val="3329"/>
                </a:lnSpc>
                <a:spcBef>
                  <a:spcPct val="0"/>
                </a:spcBef>
              </a:pPr>
              <a:endParaRPr lang="en-US" sz="2466" u="sng" spc="147">
                <a:solidFill>
                  <a:srgbClr val="FFFFFF"/>
                </a:solidFill>
                <a:latin typeface="Times New Roman"/>
                <a:ea typeface="Times New Roman"/>
                <a:cs typeface="Times New Roman"/>
                <a:sym typeface="Times New Roman"/>
                <a:hlinkClick r:id="rId5" tooltip="https://www.kaggle.com/datasets/usdot/flight-delays"/>
              </a:endParaRPr>
            </a:p>
          </p:txBody>
        </p:sp>
      </p:grpSp>
      <p:sp>
        <p:nvSpPr>
          <p:cNvPr id="10" name="Freeform 10"/>
          <p:cNvSpPr/>
          <p:nvPr/>
        </p:nvSpPr>
        <p:spPr>
          <a:xfrm>
            <a:off x="16509906" y="8820768"/>
            <a:ext cx="804410" cy="804410"/>
          </a:xfrm>
          <a:custGeom>
            <a:avLst/>
            <a:gdLst/>
            <a:ahLst/>
            <a:cxnLst/>
            <a:rect l="l" t="t" r="r" b="b"/>
            <a:pathLst>
              <a:path w="804410" h="804410">
                <a:moveTo>
                  <a:pt x="0" y="0"/>
                </a:moveTo>
                <a:lnTo>
                  <a:pt x="804410" y="0"/>
                </a:lnTo>
                <a:lnTo>
                  <a:pt x="804410" y="804410"/>
                </a:lnTo>
                <a:lnTo>
                  <a:pt x="0" y="80441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AutoShape 11"/>
          <p:cNvSpPr/>
          <p:nvPr/>
        </p:nvSpPr>
        <p:spPr>
          <a:xfrm flipV="1">
            <a:off x="10553433" y="-1727505"/>
            <a:ext cx="0" cy="14154091"/>
          </a:xfrm>
          <a:prstGeom prst="line">
            <a:avLst/>
          </a:prstGeom>
          <a:ln w="19050" cap="flat">
            <a:solidFill>
              <a:srgbClr val="F4F4ED"/>
            </a:solidFill>
            <a:prstDash val="solid"/>
            <a:headEnd type="none" w="sm" len="sm"/>
            <a:tailEnd type="none" w="sm" len="sm"/>
          </a:ln>
        </p:spPr>
      </p:sp>
      <p:grpSp>
        <p:nvGrpSpPr>
          <p:cNvPr id="12" name="Group 12"/>
          <p:cNvGrpSpPr/>
          <p:nvPr/>
        </p:nvGrpSpPr>
        <p:grpSpPr>
          <a:xfrm rot="-5400000">
            <a:off x="10376324" y="7683143"/>
            <a:ext cx="354218" cy="35421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4" name="TextBox 14"/>
            <p:cNvSpPr txBox="1"/>
            <p:nvPr/>
          </p:nvSpPr>
          <p:spPr>
            <a:xfrm>
              <a:off x="190500" y="228600"/>
              <a:ext cx="431800" cy="393700"/>
            </a:xfrm>
            <a:prstGeom prst="rect">
              <a:avLst/>
            </a:prstGeom>
          </p:spPr>
          <p:txBody>
            <a:bodyPr lIns="46507" tIns="46507" rIns="46507" bIns="46507" rtlCol="0" anchor="ctr"/>
            <a:lstStyle/>
            <a:p>
              <a:pPr marL="0" lvl="0" indent="0" algn="ctr">
                <a:lnSpc>
                  <a:spcPts val="2266"/>
                </a:lnSpc>
                <a:spcBef>
                  <a:spcPct val="0"/>
                </a:spcBef>
              </a:pPr>
              <a:endParaRPr/>
            </a:p>
          </p:txBody>
        </p:sp>
      </p:grpSp>
      <p:grpSp>
        <p:nvGrpSpPr>
          <p:cNvPr id="15" name="Group 15"/>
          <p:cNvGrpSpPr/>
          <p:nvPr/>
        </p:nvGrpSpPr>
        <p:grpSpPr>
          <a:xfrm rot="-5400000">
            <a:off x="10376324" y="4379468"/>
            <a:ext cx="354218" cy="35421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7" name="TextBox 17"/>
            <p:cNvSpPr txBox="1"/>
            <p:nvPr/>
          </p:nvSpPr>
          <p:spPr>
            <a:xfrm>
              <a:off x="190500" y="228600"/>
              <a:ext cx="431800" cy="393700"/>
            </a:xfrm>
            <a:prstGeom prst="rect">
              <a:avLst/>
            </a:prstGeom>
          </p:spPr>
          <p:txBody>
            <a:bodyPr lIns="46507" tIns="46507" rIns="46507" bIns="46507" rtlCol="0" anchor="ctr"/>
            <a:lstStyle/>
            <a:p>
              <a:pPr marL="0" lvl="0" indent="0" algn="ctr">
                <a:lnSpc>
                  <a:spcPts val="2266"/>
                </a:lnSpc>
                <a:spcBef>
                  <a:spcPct val="0"/>
                </a:spcBef>
              </a:pPr>
              <a:endParaRPr/>
            </a:p>
          </p:txBody>
        </p:sp>
      </p:grpSp>
      <p:grpSp>
        <p:nvGrpSpPr>
          <p:cNvPr id="18" name="Group 18"/>
          <p:cNvGrpSpPr/>
          <p:nvPr/>
        </p:nvGrpSpPr>
        <p:grpSpPr>
          <a:xfrm rot="-5400000">
            <a:off x="10376324" y="1028700"/>
            <a:ext cx="354218" cy="35421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20" name="TextBox 20"/>
            <p:cNvSpPr txBox="1"/>
            <p:nvPr/>
          </p:nvSpPr>
          <p:spPr>
            <a:xfrm>
              <a:off x="190500" y="228600"/>
              <a:ext cx="431800" cy="393700"/>
            </a:xfrm>
            <a:prstGeom prst="rect">
              <a:avLst/>
            </a:prstGeom>
          </p:spPr>
          <p:txBody>
            <a:bodyPr lIns="46507" tIns="46507" rIns="46507" bIns="46507" rtlCol="0" anchor="ctr"/>
            <a:lstStyle/>
            <a:p>
              <a:pPr marL="0" lvl="0" indent="0" algn="ctr">
                <a:lnSpc>
                  <a:spcPts val="2266"/>
                </a:lnSpc>
                <a:spcBef>
                  <a:spcPct val="0"/>
                </a:spcBef>
              </a:pPr>
              <a:endParaRPr/>
            </a:p>
          </p:txBody>
        </p:sp>
      </p:grpSp>
      <p:sp>
        <p:nvSpPr>
          <p:cNvPr id="21" name="TextBox 21"/>
          <p:cNvSpPr txBox="1"/>
          <p:nvPr/>
        </p:nvSpPr>
        <p:spPr>
          <a:xfrm>
            <a:off x="10730542" y="904864"/>
            <a:ext cx="1971787" cy="639989"/>
          </a:xfrm>
          <a:prstGeom prst="rect">
            <a:avLst/>
          </a:prstGeom>
        </p:spPr>
        <p:txBody>
          <a:bodyPr lIns="0" tIns="0" rIns="0" bIns="0" rtlCol="0" anchor="t">
            <a:spAutoFit/>
          </a:bodyPr>
          <a:lstStyle/>
          <a:p>
            <a:pPr algn="l">
              <a:lnSpc>
                <a:spcPts val="4621"/>
              </a:lnSpc>
            </a:pPr>
            <a:r>
              <a:rPr lang="en-US" sz="4486" b="1">
                <a:solidFill>
                  <a:srgbClr val="FFFFFF"/>
                </a:solidFill>
                <a:latin typeface="Times New Roman Bold"/>
                <a:ea typeface="Times New Roman Bold"/>
                <a:cs typeface="Times New Roman Bold"/>
                <a:sym typeface="Times New Roman Bold"/>
              </a:rPr>
              <a:t>01</a:t>
            </a:r>
          </a:p>
        </p:txBody>
      </p:sp>
      <p:sp>
        <p:nvSpPr>
          <p:cNvPr id="22" name="TextBox 22"/>
          <p:cNvSpPr txBox="1"/>
          <p:nvPr/>
        </p:nvSpPr>
        <p:spPr>
          <a:xfrm>
            <a:off x="10730542" y="4255632"/>
            <a:ext cx="1971787" cy="639989"/>
          </a:xfrm>
          <a:prstGeom prst="rect">
            <a:avLst/>
          </a:prstGeom>
        </p:spPr>
        <p:txBody>
          <a:bodyPr lIns="0" tIns="0" rIns="0" bIns="0" rtlCol="0" anchor="t">
            <a:spAutoFit/>
          </a:bodyPr>
          <a:lstStyle/>
          <a:p>
            <a:pPr algn="l">
              <a:lnSpc>
                <a:spcPts val="4621"/>
              </a:lnSpc>
            </a:pPr>
            <a:r>
              <a:rPr lang="en-US" sz="4486" b="1">
                <a:solidFill>
                  <a:srgbClr val="FFFFFF"/>
                </a:solidFill>
                <a:latin typeface="Times New Roman Bold"/>
                <a:ea typeface="Times New Roman Bold"/>
                <a:cs typeface="Times New Roman Bold"/>
                <a:sym typeface="Times New Roman Bold"/>
              </a:rPr>
              <a:t>02</a:t>
            </a:r>
          </a:p>
        </p:txBody>
      </p:sp>
      <p:sp>
        <p:nvSpPr>
          <p:cNvPr id="23" name="TextBox 23"/>
          <p:cNvSpPr txBox="1"/>
          <p:nvPr/>
        </p:nvSpPr>
        <p:spPr>
          <a:xfrm>
            <a:off x="11381005" y="771514"/>
            <a:ext cx="6414299" cy="1709166"/>
          </a:xfrm>
          <a:prstGeom prst="rect">
            <a:avLst/>
          </a:prstGeom>
        </p:spPr>
        <p:txBody>
          <a:bodyPr lIns="0" tIns="0" rIns="0" bIns="0" rtlCol="0" anchor="t">
            <a:spAutoFit/>
          </a:bodyPr>
          <a:lstStyle/>
          <a:p>
            <a:pPr algn="l">
              <a:lnSpc>
                <a:spcPts val="3431"/>
              </a:lnSpc>
            </a:pPr>
            <a:r>
              <a:rPr lang="en-US" sz="2199">
                <a:solidFill>
                  <a:srgbClr val="FFFFFF"/>
                </a:solidFill>
                <a:latin typeface="Times New Roman"/>
                <a:ea typeface="Times New Roman"/>
                <a:cs typeface="Times New Roman"/>
                <a:sym typeface="Times New Roman"/>
              </a:rPr>
              <a:t>Dataset Features:Flight date (day, month),Departure time,Airline carrier,Flight distance,Delay status (target variable)</a:t>
            </a:r>
          </a:p>
          <a:p>
            <a:pPr algn="l">
              <a:lnSpc>
                <a:spcPts val="3431"/>
              </a:lnSpc>
            </a:pPr>
            <a:endParaRPr lang="en-US" sz="2199">
              <a:solidFill>
                <a:srgbClr val="FFFFFF"/>
              </a:solidFill>
              <a:latin typeface="Times New Roman"/>
              <a:ea typeface="Times New Roman"/>
              <a:cs typeface="Times New Roman"/>
              <a:sym typeface="Times New Roman"/>
            </a:endParaRPr>
          </a:p>
        </p:txBody>
      </p:sp>
      <p:sp>
        <p:nvSpPr>
          <p:cNvPr id="24" name="TextBox 24"/>
          <p:cNvSpPr txBox="1"/>
          <p:nvPr/>
        </p:nvSpPr>
        <p:spPr>
          <a:xfrm>
            <a:off x="11683042" y="4146119"/>
            <a:ext cx="6112261" cy="1709166"/>
          </a:xfrm>
          <a:prstGeom prst="rect">
            <a:avLst/>
          </a:prstGeom>
        </p:spPr>
        <p:txBody>
          <a:bodyPr lIns="0" tIns="0" rIns="0" bIns="0" rtlCol="0" anchor="t">
            <a:spAutoFit/>
          </a:bodyPr>
          <a:lstStyle/>
          <a:p>
            <a:pPr algn="l">
              <a:lnSpc>
                <a:spcPts val="3431"/>
              </a:lnSpc>
            </a:pPr>
            <a:r>
              <a:rPr lang="en-US" sz="2199">
                <a:solidFill>
                  <a:srgbClr val="FFFFFF"/>
                </a:solidFill>
                <a:latin typeface="Times New Roman"/>
                <a:ea typeface="Times New Roman"/>
                <a:cs typeface="Times New Roman"/>
                <a:sym typeface="Times New Roman"/>
              </a:rPr>
              <a:t> Dataset Characteristics:Large-scale real-world dataset,Contains both numerical and categorical data,Time-based and operational features</a:t>
            </a:r>
          </a:p>
          <a:p>
            <a:pPr algn="l">
              <a:lnSpc>
                <a:spcPts val="3431"/>
              </a:lnSpc>
            </a:pPr>
            <a:endParaRPr lang="en-US" sz="2199">
              <a:solidFill>
                <a:srgbClr val="FFFFFF"/>
              </a:solidFill>
              <a:latin typeface="Times New Roman"/>
              <a:ea typeface="Times New Roman"/>
              <a:cs typeface="Times New Roman"/>
              <a:sym typeface="Times New Roman"/>
            </a:endParaRPr>
          </a:p>
        </p:txBody>
      </p:sp>
      <p:sp>
        <p:nvSpPr>
          <p:cNvPr id="25" name="TextBox 25"/>
          <p:cNvSpPr txBox="1"/>
          <p:nvPr/>
        </p:nvSpPr>
        <p:spPr>
          <a:xfrm>
            <a:off x="10730542" y="7548163"/>
            <a:ext cx="1971787" cy="639989"/>
          </a:xfrm>
          <a:prstGeom prst="rect">
            <a:avLst/>
          </a:prstGeom>
        </p:spPr>
        <p:txBody>
          <a:bodyPr lIns="0" tIns="0" rIns="0" bIns="0" rtlCol="0" anchor="t">
            <a:spAutoFit/>
          </a:bodyPr>
          <a:lstStyle/>
          <a:p>
            <a:pPr algn="l">
              <a:lnSpc>
                <a:spcPts val="4621"/>
              </a:lnSpc>
            </a:pPr>
            <a:r>
              <a:rPr lang="en-US" sz="4486" b="1">
                <a:solidFill>
                  <a:srgbClr val="FFFFFF"/>
                </a:solidFill>
                <a:latin typeface="Times New Roman Bold"/>
                <a:ea typeface="Times New Roman Bold"/>
                <a:cs typeface="Times New Roman Bold"/>
                <a:sym typeface="Times New Roman Bold"/>
              </a:rPr>
              <a:t>03</a:t>
            </a:r>
          </a:p>
        </p:txBody>
      </p:sp>
      <p:sp>
        <p:nvSpPr>
          <p:cNvPr id="26" name="TextBox 26"/>
          <p:cNvSpPr txBox="1"/>
          <p:nvPr/>
        </p:nvSpPr>
        <p:spPr>
          <a:xfrm>
            <a:off x="11634090" y="7587893"/>
            <a:ext cx="4711434" cy="1709166"/>
          </a:xfrm>
          <a:prstGeom prst="rect">
            <a:avLst/>
          </a:prstGeom>
        </p:spPr>
        <p:txBody>
          <a:bodyPr lIns="0" tIns="0" rIns="0" bIns="0" rtlCol="0" anchor="t">
            <a:spAutoFit/>
          </a:bodyPr>
          <a:lstStyle/>
          <a:p>
            <a:pPr algn="l">
              <a:lnSpc>
                <a:spcPts val="3431"/>
              </a:lnSpc>
            </a:pPr>
            <a:r>
              <a:rPr lang="en-US" sz="2199">
                <a:solidFill>
                  <a:srgbClr val="FFFFFF"/>
                </a:solidFill>
                <a:latin typeface="Times New Roman"/>
                <a:ea typeface="Times New Roman"/>
                <a:cs typeface="Times New Roman"/>
                <a:sym typeface="Times New Roman"/>
              </a:rPr>
              <a:t>Target Variable:Binary classification:</a:t>
            </a:r>
          </a:p>
          <a:p>
            <a:pPr marL="474979" lvl="1" indent="-237490" algn="l">
              <a:lnSpc>
                <a:spcPts val="3431"/>
              </a:lnSpc>
              <a:buFont typeface="Arial"/>
              <a:buChar char="•"/>
            </a:pPr>
            <a:r>
              <a:rPr lang="en-US" sz="2199">
                <a:solidFill>
                  <a:srgbClr val="FFFFFF"/>
                </a:solidFill>
                <a:latin typeface="Times New Roman"/>
                <a:ea typeface="Times New Roman"/>
                <a:cs typeface="Times New Roman"/>
                <a:sym typeface="Times New Roman"/>
              </a:rPr>
              <a:t>0 → On-time flight</a:t>
            </a:r>
          </a:p>
          <a:p>
            <a:pPr marL="474979" lvl="1" indent="-237490" algn="l">
              <a:lnSpc>
                <a:spcPts val="3431"/>
              </a:lnSpc>
              <a:buFont typeface="Arial"/>
              <a:buChar char="•"/>
            </a:pPr>
            <a:r>
              <a:rPr lang="en-US" sz="2199">
                <a:solidFill>
                  <a:srgbClr val="FFFFFF"/>
                </a:solidFill>
                <a:latin typeface="Times New Roman"/>
                <a:ea typeface="Times New Roman"/>
                <a:cs typeface="Times New Roman"/>
                <a:sym typeface="Times New Roman"/>
              </a:rPr>
              <a:t>1 → Delayed flight</a:t>
            </a:r>
          </a:p>
          <a:p>
            <a:pPr algn="l">
              <a:lnSpc>
                <a:spcPts val="3431"/>
              </a:lnSpc>
            </a:pPr>
            <a:endParaRPr lang="en-US" sz="2199">
              <a:solidFill>
                <a:srgbClr val="FFFFFF"/>
              </a:solidFill>
              <a:latin typeface="Times New Roman"/>
              <a:ea typeface="Times New Roman"/>
              <a:cs typeface="Times New Roman"/>
              <a:sym typeface="Times New Roman"/>
            </a:endParaRPr>
          </a:p>
        </p:txBody>
      </p:sp>
      <p:sp>
        <p:nvSpPr>
          <p:cNvPr id="27" name="TextBox 27"/>
          <p:cNvSpPr txBox="1"/>
          <p:nvPr/>
        </p:nvSpPr>
        <p:spPr>
          <a:xfrm>
            <a:off x="1407202" y="9365907"/>
            <a:ext cx="7640955" cy="423292"/>
          </a:xfrm>
          <a:prstGeom prst="rect">
            <a:avLst/>
          </a:prstGeom>
        </p:spPr>
        <p:txBody>
          <a:bodyPr lIns="0" tIns="0" rIns="0" bIns="0" rtlCol="0" anchor="t">
            <a:spAutoFit/>
          </a:bodyPr>
          <a:lstStyle/>
          <a:p>
            <a:pPr algn="ctr">
              <a:lnSpc>
                <a:spcPts val="3431"/>
              </a:lnSpc>
              <a:spcBef>
                <a:spcPct val="0"/>
              </a:spcBef>
            </a:pPr>
            <a:r>
              <a:rPr lang="en-US" sz="2199">
                <a:solidFill>
                  <a:srgbClr val="FFFFFF"/>
                </a:solidFill>
                <a:latin typeface="Times New Roman"/>
                <a:ea typeface="Times New Roman"/>
                <a:cs typeface="Times New Roman"/>
                <a:sym typeface="Times New Roman"/>
              </a:rPr>
              <a:t>Flight delays are influenced by time, airline operations, and distance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2752387" y="704850"/>
            <a:ext cx="12783226" cy="1215390"/>
          </a:xfrm>
          <a:prstGeom prst="rect">
            <a:avLst/>
          </a:prstGeom>
        </p:spPr>
        <p:txBody>
          <a:bodyPr lIns="0" tIns="0" rIns="0" bIns="0" rtlCol="0" anchor="t">
            <a:spAutoFit/>
          </a:bodyPr>
          <a:lstStyle/>
          <a:p>
            <a:pPr marL="0" lvl="1" indent="0" algn="ctr">
              <a:lnSpc>
                <a:spcPts val="8730"/>
              </a:lnSpc>
              <a:spcBef>
                <a:spcPct val="0"/>
              </a:spcBef>
            </a:pPr>
            <a:r>
              <a:rPr lang="en-US" sz="9000">
                <a:solidFill>
                  <a:srgbClr val="FFFFFF"/>
                </a:solidFill>
                <a:latin typeface="Times New Roman"/>
                <a:ea typeface="Times New Roman"/>
                <a:cs typeface="Times New Roman"/>
                <a:sym typeface="Times New Roman"/>
              </a:rPr>
              <a:t>Ideation Process</a:t>
            </a:r>
          </a:p>
        </p:txBody>
      </p:sp>
      <p:grpSp>
        <p:nvGrpSpPr>
          <p:cNvPr id="4" name="Group 4"/>
          <p:cNvGrpSpPr/>
          <p:nvPr/>
        </p:nvGrpSpPr>
        <p:grpSpPr>
          <a:xfrm>
            <a:off x="-886757" y="4395781"/>
            <a:ext cx="20061513" cy="5774470"/>
            <a:chOff x="0" y="0"/>
            <a:chExt cx="26748685" cy="7699293"/>
          </a:xfrm>
        </p:grpSpPr>
        <p:sp>
          <p:nvSpPr>
            <p:cNvPr id="5" name="AutoShape 5"/>
            <p:cNvSpPr/>
            <p:nvPr/>
          </p:nvSpPr>
          <p:spPr>
            <a:xfrm>
              <a:off x="0" y="334704"/>
              <a:ext cx="26748685" cy="0"/>
            </a:xfrm>
            <a:prstGeom prst="line">
              <a:avLst/>
            </a:prstGeom>
            <a:ln w="38100" cap="flat">
              <a:solidFill>
                <a:srgbClr val="F4F4ED"/>
              </a:solidFill>
              <a:prstDash val="solid"/>
              <a:headEnd type="none" w="sm" len="sm"/>
              <a:tailEnd type="none" w="sm" len="sm"/>
            </a:ln>
          </p:spPr>
        </p:sp>
        <p:grpSp>
          <p:nvGrpSpPr>
            <p:cNvPr id="6" name="Group 6"/>
            <p:cNvGrpSpPr/>
            <p:nvPr/>
          </p:nvGrpSpPr>
          <p:grpSpPr>
            <a:xfrm>
              <a:off x="9089229" y="0"/>
              <a:ext cx="669408" cy="66940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8" name="TextBox 8"/>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9" name="Group 9"/>
            <p:cNvGrpSpPr/>
            <p:nvPr/>
          </p:nvGrpSpPr>
          <p:grpSpPr>
            <a:xfrm>
              <a:off x="4151764" y="0"/>
              <a:ext cx="669408" cy="66940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p:spPr>
          </p:sp>
          <p:sp>
            <p:nvSpPr>
              <p:cNvPr id="11" name="TextBox 11"/>
              <p:cNvSpPr txBox="1"/>
              <p:nvPr/>
            </p:nvSpPr>
            <p:spPr>
              <a:xfrm>
                <a:off x="190500" y="228600"/>
                <a:ext cx="431800" cy="393700"/>
              </a:xfrm>
              <a:prstGeom prst="rect">
                <a:avLst/>
              </a:prstGeom>
            </p:spPr>
            <p:txBody>
              <a:bodyPr lIns="50800" tIns="50800" rIns="50800" bIns="50800" rtlCol="0" anchor="ctr"/>
              <a:lstStyle/>
              <a:p>
                <a:pPr algn="ctr">
                  <a:lnSpc>
                    <a:spcPts val="2266"/>
                  </a:lnSpc>
                </a:pPr>
                <a:endParaRPr/>
              </a:p>
            </p:txBody>
          </p:sp>
        </p:grpSp>
        <p:grpSp>
          <p:nvGrpSpPr>
            <p:cNvPr id="12" name="Group 12"/>
            <p:cNvGrpSpPr/>
            <p:nvPr/>
          </p:nvGrpSpPr>
          <p:grpSpPr>
            <a:xfrm>
              <a:off x="14053845" y="0"/>
              <a:ext cx="669408" cy="66940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4" name="TextBox 14"/>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grpSp>
          <p:nvGrpSpPr>
            <p:cNvPr id="15" name="Group 15"/>
            <p:cNvGrpSpPr/>
            <p:nvPr/>
          </p:nvGrpSpPr>
          <p:grpSpPr>
            <a:xfrm>
              <a:off x="19043861" y="0"/>
              <a:ext cx="669408" cy="66940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FFFFFF"/>
              </a:solidFill>
              <a:ln cap="sq">
                <a:noFill/>
                <a:prstDash val="solid"/>
                <a:miter/>
              </a:ln>
            </p:spPr>
          </p:sp>
          <p:sp>
            <p:nvSpPr>
              <p:cNvPr id="17" name="TextBox 17"/>
              <p:cNvSpPr txBox="1"/>
              <p:nvPr/>
            </p:nvSpPr>
            <p:spPr>
              <a:xfrm>
                <a:off x="190500" y="228600"/>
                <a:ext cx="431800" cy="393700"/>
              </a:xfrm>
              <a:prstGeom prst="rect">
                <a:avLst/>
              </a:prstGeom>
            </p:spPr>
            <p:txBody>
              <a:bodyPr lIns="50800" tIns="50800" rIns="50800" bIns="50800" rtlCol="0" anchor="ctr"/>
              <a:lstStyle/>
              <a:p>
                <a:pPr marL="0" lvl="0" indent="0" algn="ctr">
                  <a:lnSpc>
                    <a:spcPts val="2266"/>
                  </a:lnSpc>
                  <a:spcBef>
                    <a:spcPct val="0"/>
                  </a:spcBef>
                </a:pPr>
                <a:endParaRPr/>
              </a:p>
            </p:txBody>
          </p:sp>
        </p:grpSp>
        <p:sp>
          <p:nvSpPr>
            <p:cNvPr id="18" name="TextBox 18"/>
            <p:cNvSpPr txBox="1"/>
            <p:nvPr/>
          </p:nvSpPr>
          <p:spPr>
            <a:xfrm>
              <a:off x="4151764" y="1002194"/>
              <a:ext cx="2929765" cy="959909"/>
            </a:xfrm>
            <a:prstGeom prst="rect">
              <a:avLst/>
            </a:prstGeom>
          </p:spPr>
          <p:txBody>
            <a:bodyPr lIns="0" tIns="0" rIns="0" bIns="0" rtlCol="0" anchor="t">
              <a:spAutoFit/>
            </a:bodyPr>
            <a:lstStyle/>
            <a:p>
              <a:pPr algn="l">
                <a:lnSpc>
                  <a:spcPts val="5150"/>
                </a:lnSpc>
              </a:pPr>
              <a:r>
                <a:rPr lang="en-US" sz="5000" b="1">
                  <a:solidFill>
                    <a:srgbClr val="FFFFFF"/>
                  </a:solidFill>
                  <a:latin typeface="Times New Roman Bold"/>
                  <a:ea typeface="Times New Roman Bold"/>
                  <a:cs typeface="Times New Roman Bold"/>
                  <a:sym typeface="Times New Roman Bold"/>
                </a:rPr>
                <a:t>01</a:t>
              </a:r>
            </a:p>
          </p:txBody>
        </p:sp>
        <p:sp>
          <p:nvSpPr>
            <p:cNvPr id="19" name="TextBox 19"/>
            <p:cNvSpPr txBox="1"/>
            <p:nvPr/>
          </p:nvSpPr>
          <p:spPr>
            <a:xfrm>
              <a:off x="9113633" y="1002194"/>
              <a:ext cx="2929765" cy="959909"/>
            </a:xfrm>
            <a:prstGeom prst="rect">
              <a:avLst/>
            </a:prstGeom>
          </p:spPr>
          <p:txBody>
            <a:bodyPr lIns="0" tIns="0" rIns="0" bIns="0" rtlCol="0" anchor="t">
              <a:spAutoFit/>
            </a:bodyPr>
            <a:lstStyle/>
            <a:p>
              <a:pPr algn="l">
                <a:lnSpc>
                  <a:spcPts val="5150"/>
                </a:lnSpc>
              </a:pPr>
              <a:r>
                <a:rPr lang="en-US" sz="5000" b="1">
                  <a:solidFill>
                    <a:srgbClr val="FFFFFF"/>
                  </a:solidFill>
                  <a:latin typeface="Times New Roman Bold"/>
                  <a:ea typeface="Times New Roman Bold"/>
                  <a:cs typeface="Times New Roman Bold"/>
                  <a:sym typeface="Times New Roman Bold"/>
                </a:rPr>
                <a:t>02</a:t>
              </a:r>
            </a:p>
          </p:txBody>
        </p:sp>
        <p:sp>
          <p:nvSpPr>
            <p:cNvPr id="20" name="TextBox 20"/>
            <p:cNvSpPr txBox="1"/>
            <p:nvPr/>
          </p:nvSpPr>
          <p:spPr>
            <a:xfrm>
              <a:off x="3446580" y="2155778"/>
              <a:ext cx="3991827" cy="1519185"/>
            </a:xfrm>
            <a:prstGeom prst="rect">
              <a:avLst/>
            </a:prstGeom>
          </p:spPr>
          <p:txBody>
            <a:bodyPr lIns="0" tIns="0" rIns="0" bIns="0" rtlCol="0" anchor="t">
              <a:spAutoFit/>
            </a:bodyPr>
            <a:lstStyle/>
            <a:p>
              <a:pPr algn="l">
                <a:lnSpc>
                  <a:spcPts val="3109"/>
                </a:lnSpc>
              </a:pPr>
              <a:r>
                <a:rPr lang="en-US" sz="1993">
                  <a:solidFill>
                    <a:srgbClr val="FFFFFF"/>
                  </a:solidFill>
                  <a:latin typeface="Times New Roman"/>
                  <a:ea typeface="Times New Roman"/>
                  <a:cs typeface="Times New Roman"/>
                  <a:sym typeface="Times New Roman"/>
                </a:rPr>
                <a:t>Clean the flight dataset</a:t>
              </a:r>
            </a:p>
            <a:p>
              <a:pPr algn="l">
                <a:lnSpc>
                  <a:spcPts val="3109"/>
                </a:lnSpc>
              </a:pPr>
              <a:r>
                <a:rPr lang="en-US" sz="1993">
                  <a:solidFill>
                    <a:srgbClr val="FFFFFF"/>
                  </a:solidFill>
                  <a:latin typeface="Times New Roman"/>
                  <a:ea typeface="Times New Roman"/>
                  <a:cs typeface="Times New Roman"/>
                  <a:sym typeface="Times New Roman"/>
                </a:rPr>
                <a:t>Handle missing values and remove incorrect records</a:t>
              </a:r>
            </a:p>
          </p:txBody>
        </p:sp>
        <p:sp>
          <p:nvSpPr>
            <p:cNvPr id="21" name="TextBox 21"/>
            <p:cNvSpPr txBox="1"/>
            <p:nvPr/>
          </p:nvSpPr>
          <p:spPr>
            <a:xfrm>
              <a:off x="8062999" y="2155778"/>
              <a:ext cx="4248254" cy="1526273"/>
            </a:xfrm>
            <a:prstGeom prst="rect">
              <a:avLst/>
            </a:prstGeom>
          </p:spPr>
          <p:txBody>
            <a:bodyPr lIns="0" tIns="0" rIns="0" bIns="0" rtlCol="0" anchor="t">
              <a:spAutoFit/>
            </a:bodyPr>
            <a:lstStyle/>
            <a:p>
              <a:pPr algn="l">
                <a:lnSpc>
                  <a:spcPts val="3110"/>
                </a:lnSpc>
              </a:pPr>
              <a:r>
                <a:rPr lang="en-US" sz="1993">
                  <a:solidFill>
                    <a:srgbClr val="FFFFFF"/>
                  </a:solidFill>
                  <a:latin typeface="Times New Roman"/>
                  <a:ea typeface="Times New Roman"/>
                  <a:cs typeface="Times New Roman"/>
                  <a:sym typeface="Times New Roman"/>
                </a:rPr>
                <a:t>Process flight details</a:t>
              </a:r>
            </a:p>
            <a:p>
              <a:pPr algn="l">
                <a:lnSpc>
                  <a:spcPts val="3110"/>
                </a:lnSpc>
              </a:pPr>
              <a:r>
                <a:rPr lang="en-US" sz="1993">
                  <a:solidFill>
                    <a:srgbClr val="FFFFFF"/>
                  </a:solidFill>
                  <a:latin typeface="Times New Roman"/>
                  <a:ea typeface="Times New Roman"/>
                  <a:cs typeface="Times New Roman"/>
                  <a:sym typeface="Times New Roman"/>
                </a:rPr>
                <a:t>Convert airline, origin, and destination into usable format</a:t>
              </a:r>
            </a:p>
          </p:txBody>
        </p:sp>
        <p:sp>
          <p:nvSpPr>
            <p:cNvPr id="22" name="TextBox 22"/>
            <p:cNvSpPr txBox="1"/>
            <p:nvPr/>
          </p:nvSpPr>
          <p:spPr>
            <a:xfrm>
              <a:off x="14078249" y="1002194"/>
              <a:ext cx="2929765" cy="959909"/>
            </a:xfrm>
            <a:prstGeom prst="rect">
              <a:avLst/>
            </a:prstGeom>
          </p:spPr>
          <p:txBody>
            <a:bodyPr lIns="0" tIns="0" rIns="0" bIns="0" rtlCol="0" anchor="t">
              <a:spAutoFit/>
            </a:bodyPr>
            <a:lstStyle/>
            <a:p>
              <a:pPr algn="l">
                <a:lnSpc>
                  <a:spcPts val="5150"/>
                </a:lnSpc>
              </a:pPr>
              <a:r>
                <a:rPr lang="en-US" sz="5000" b="1">
                  <a:solidFill>
                    <a:srgbClr val="FFFFFF"/>
                  </a:solidFill>
                  <a:latin typeface="Times New Roman Bold"/>
                  <a:ea typeface="Times New Roman Bold"/>
                  <a:cs typeface="Times New Roman Bold"/>
                  <a:sym typeface="Times New Roman Bold"/>
                </a:rPr>
                <a:t>03</a:t>
              </a:r>
            </a:p>
          </p:txBody>
        </p:sp>
        <p:sp>
          <p:nvSpPr>
            <p:cNvPr id="23" name="TextBox 23"/>
            <p:cNvSpPr txBox="1"/>
            <p:nvPr/>
          </p:nvSpPr>
          <p:spPr>
            <a:xfrm>
              <a:off x="12970102" y="2155778"/>
              <a:ext cx="4328876" cy="1525906"/>
            </a:xfrm>
            <a:prstGeom prst="rect">
              <a:avLst/>
            </a:prstGeom>
          </p:spPr>
          <p:txBody>
            <a:bodyPr lIns="0" tIns="0" rIns="0" bIns="0" rtlCol="0" anchor="t">
              <a:spAutoFit/>
            </a:bodyPr>
            <a:lstStyle/>
            <a:p>
              <a:pPr algn="l">
                <a:lnSpc>
                  <a:spcPts val="3119"/>
                </a:lnSpc>
              </a:pPr>
              <a:r>
                <a:rPr lang="en-US" sz="1999">
                  <a:solidFill>
                    <a:srgbClr val="FFFFFF"/>
                  </a:solidFill>
                  <a:latin typeface="Times New Roman"/>
                  <a:ea typeface="Times New Roman"/>
                  <a:cs typeface="Times New Roman"/>
                  <a:sym typeface="Times New Roman"/>
                </a:rPr>
                <a:t>Create important features</a:t>
              </a:r>
            </a:p>
            <a:p>
              <a:pPr algn="l">
                <a:lnSpc>
                  <a:spcPts val="3119"/>
                </a:lnSpc>
              </a:pPr>
              <a:r>
                <a:rPr lang="en-US" sz="1999">
                  <a:solidFill>
                    <a:srgbClr val="FFFFFF"/>
                  </a:solidFill>
                  <a:latin typeface="Times New Roman"/>
                  <a:ea typeface="Times New Roman"/>
                  <a:cs typeface="Times New Roman"/>
                  <a:sym typeface="Times New Roman"/>
                </a:rPr>
                <a:t>Extract hour, day, month and peak hour vs non-peak hour</a:t>
              </a:r>
            </a:p>
          </p:txBody>
        </p:sp>
        <p:sp>
          <p:nvSpPr>
            <p:cNvPr id="24" name="TextBox 24"/>
            <p:cNvSpPr txBox="1"/>
            <p:nvPr/>
          </p:nvSpPr>
          <p:spPr>
            <a:xfrm>
              <a:off x="19068264" y="1002194"/>
              <a:ext cx="2929765" cy="959909"/>
            </a:xfrm>
            <a:prstGeom prst="rect">
              <a:avLst/>
            </a:prstGeom>
          </p:spPr>
          <p:txBody>
            <a:bodyPr lIns="0" tIns="0" rIns="0" bIns="0" rtlCol="0" anchor="t">
              <a:spAutoFit/>
            </a:bodyPr>
            <a:lstStyle/>
            <a:p>
              <a:pPr algn="l">
                <a:lnSpc>
                  <a:spcPts val="5150"/>
                </a:lnSpc>
              </a:pPr>
              <a:r>
                <a:rPr lang="en-US" sz="5000" b="1">
                  <a:solidFill>
                    <a:srgbClr val="FFFFFF"/>
                  </a:solidFill>
                  <a:latin typeface="Times New Roman Bold"/>
                  <a:ea typeface="Times New Roman Bold"/>
                  <a:cs typeface="Times New Roman Bold"/>
                  <a:sym typeface="Times New Roman Bold"/>
                </a:rPr>
                <a:t>04</a:t>
              </a:r>
            </a:p>
          </p:txBody>
        </p:sp>
        <p:sp>
          <p:nvSpPr>
            <p:cNvPr id="25" name="TextBox 25"/>
            <p:cNvSpPr txBox="1"/>
            <p:nvPr/>
          </p:nvSpPr>
          <p:spPr>
            <a:xfrm>
              <a:off x="18201896" y="2155778"/>
              <a:ext cx="4797619" cy="1878323"/>
            </a:xfrm>
            <a:prstGeom prst="rect">
              <a:avLst/>
            </a:prstGeom>
          </p:spPr>
          <p:txBody>
            <a:bodyPr lIns="0" tIns="0" rIns="0" bIns="0" rtlCol="0" anchor="t">
              <a:spAutoFit/>
            </a:bodyPr>
            <a:lstStyle/>
            <a:p>
              <a:pPr algn="l">
                <a:lnSpc>
                  <a:spcPts val="2852"/>
                </a:lnSpc>
              </a:pPr>
              <a:r>
                <a:rPr lang="en-US" sz="1828">
                  <a:solidFill>
                    <a:srgbClr val="FFFFFF"/>
                  </a:solidFill>
                  <a:latin typeface="Times New Roman"/>
                  <a:ea typeface="Times New Roman"/>
                  <a:cs typeface="Times New Roman"/>
                  <a:sym typeface="Times New Roman"/>
                </a:rPr>
                <a:t>Prepare data for modelling</a:t>
              </a:r>
            </a:p>
            <a:p>
              <a:pPr algn="l">
                <a:lnSpc>
                  <a:spcPts val="2852"/>
                </a:lnSpc>
              </a:pPr>
              <a:r>
                <a:rPr lang="en-US" sz="1828">
                  <a:solidFill>
                    <a:srgbClr val="FFFFFF"/>
                  </a:solidFill>
                  <a:latin typeface="Times New Roman"/>
                  <a:ea typeface="Times New Roman"/>
                  <a:cs typeface="Times New Roman"/>
                  <a:sym typeface="Times New Roman"/>
                </a:rPr>
                <a:t>Select important features and make data ready for training</a:t>
              </a:r>
            </a:p>
            <a:p>
              <a:pPr algn="l">
                <a:lnSpc>
                  <a:spcPts val="2852"/>
                </a:lnSpc>
              </a:pPr>
              <a:endParaRPr lang="en-US" sz="1828">
                <a:solidFill>
                  <a:srgbClr val="FFFFFF"/>
                </a:solidFill>
                <a:latin typeface="Times New Roman"/>
                <a:ea typeface="Times New Roman"/>
                <a:cs typeface="Times New Roman"/>
                <a:sym typeface="Times New Roman"/>
              </a:endParaRPr>
            </a:p>
          </p:txBody>
        </p:sp>
        <p:sp>
          <p:nvSpPr>
            <p:cNvPr id="26" name="Freeform 26"/>
            <p:cNvSpPr/>
            <p:nvPr/>
          </p:nvSpPr>
          <p:spPr>
            <a:xfrm>
              <a:off x="24147957" y="6504066"/>
              <a:ext cx="1195227" cy="1195227"/>
            </a:xfrm>
            <a:custGeom>
              <a:avLst/>
              <a:gdLst/>
              <a:ahLst/>
              <a:cxnLst/>
              <a:rect l="l" t="t" r="r" b="b"/>
              <a:pathLst>
                <a:path w="1195227" h="1195227">
                  <a:moveTo>
                    <a:pt x="0" y="0"/>
                  </a:moveTo>
                  <a:lnTo>
                    <a:pt x="1195228" y="0"/>
                  </a:lnTo>
                  <a:lnTo>
                    <a:pt x="1195228" y="1195227"/>
                  </a:lnTo>
                  <a:lnTo>
                    <a:pt x="0" y="119522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sp>
        <p:nvSpPr>
          <p:cNvPr id="27" name="TextBox 27"/>
          <p:cNvSpPr txBox="1"/>
          <p:nvPr/>
        </p:nvSpPr>
        <p:spPr>
          <a:xfrm>
            <a:off x="2422788" y="2141137"/>
            <a:ext cx="13112825" cy="1361059"/>
          </a:xfrm>
          <a:prstGeom prst="rect">
            <a:avLst/>
          </a:prstGeom>
        </p:spPr>
        <p:txBody>
          <a:bodyPr lIns="0" tIns="0" rIns="0" bIns="0" rtlCol="0" anchor="t">
            <a:spAutoFit/>
          </a:bodyPr>
          <a:lstStyle/>
          <a:p>
            <a:pPr algn="just">
              <a:lnSpc>
                <a:spcPts val="2677"/>
              </a:lnSpc>
              <a:spcBef>
                <a:spcPct val="0"/>
              </a:spcBef>
            </a:pPr>
            <a:r>
              <a:rPr lang="en-US" sz="2599">
                <a:solidFill>
                  <a:srgbClr val="FFFFFF"/>
                </a:solidFill>
                <a:latin typeface="Times New Roman"/>
                <a:ea typeface="Times New Roman"/>
                <a:cs typeface="Times New Roman"/>
                <a:sym typeface="Times New Roman"/>
              </a:rPr>
              <a:t>The project follows a step-by-step process from problem understanding to model evaluation. Each step helps improve accuracy and reliability.</a:t>
            </a:r>
          </a:p>
          <a:p>
            <a:pPr algn="just">
              <a:lnSpc>
                <a:spcPts val="2677"/>
              </a:lnSpc>
              <a:spcBef>
                <a:spcPct val="0"/>
              </a:spcBef>
            </a:pPr>
            <a:r>
              <a:rPr lang="en-US" sz="2599">
                <a:solidFill>
                  <a:srgbClr val="FFFFFF"/>
                </a:solidFill>
                <a:latin typeface="Times New Roman"/>
                <a:ea typeface="Times New Roman"/>
                <a:cs typeface="Times New Roman"/>
                <a:sym typeface="Times New Roman"/>
              </a:rPr>
              <a:t>It includes data preparation, feature selection, model training, and performance evaluation.</a:t>
            </a:r>
          </a:p>
          <a:p>
            <a:pPr algn="just">
              <a:lnSpc>
                <a:spcPts val="2677"/>
              </a:lnSpc>
              <a:spcBef>
                <a:spcPct val="0"/>
              </a:spcBef>
            </a:pPr>
            <a:endParaRPr lang="en-US" sz="2599">
              <a:solidFill>
                <a:srgbClr val="FFFFFF"/>
              </a:solidFill>
              <a:latin typeface="Times New Roman"/>
              <a:ea typeface="Times New Roman"/>
              <a:cs typeface="Times New Roman"/>
              <a:sym typeface="Times New Roman"/>
            </a:endParaRPr>
          </a:p>
        </p:txBody>
      </p:sp>
      <p:sp>
        <p:nvSpPr>
          <p:cNvPr id="28" name="TextBox 28"/>
          <p:cNvSpPr txBox="1"/>
          <p:nvPr/>
        </p:nvSpPr>
        <p:spPr>
          <a:xfrm>
            <a:off x="337458" y="8182562"/>
            <a:ext cx="16921842" cy="694309"/>
          </a:xfrm>
          <a:prstGeom prst="rect">
            <a:avLst/>
          </a:prstGeom>
        </p:spPr>
        <p:txBody>
          <a:bodyPr lIns="0" tIns="0" rIns="0" bIns="0" rtlCol="0" anchor="t">
            <a:spAutoFit/>
          </a:bodyPr>
          <a:lstStyle/>
          <a:p>
            <a:pPr algn="just">
              <a:lnSpc>
                <a:spcPts val="2677"/>
              </a:lnSpc>
            </a:pPr>
            <a:r>
              <a:rPr lang="en-US" sz="2599">
                <a:solidFill>
                  <a:srgbClr val="FFFFFF"/>
                </a:solidFill>
                <a:latin typeface="Times New Roman"/>
                <a:ea typeface="Times New Roman"/>
                <a:cs typeface="Times New Roman"/>
                <a:sym typeface="Times New Roman"/>
              </a:rPr>
              <a:t>We extracted time-based and operational features like peak hours, airline, and distance, which strongly influence flight delays.</a:t>
            </a:r>
          </a:p>
          <a:p>
            <a:pPr algn="just">
              <a:lnSpc>
                <a:spcPts val="2677"/>
              </a:lnSpc>
              <a:spcBef>
                <a:spcPct val="0"/>
              </a:spcBef>
            </a:pPr>
            <a:endParaRPr lang="en-US" sz="2599">
              <a:solidFill>
                <a:srgbClr val="FFFFFF"/>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sp>
        <p:nvSpPr>
          <p:cNvPr id="4" name="TextBox 4"/>
          <p:cNvSpPr txBox="1"/>
          <p:nvPr/>
        </p:nvSpPr>
        <p:spPr>
          <a:xfrm>
            <a:off x="649449" y="896955"/>
            <a:ext cx="15623221" cy="2460740"/>
          </a:xfrm>
          <a:prstGeom prst="rect">
            <a:avLst/>
          </a:prstGeom>
        </p:spPr>
        <p:txBody>
          <a:bodyPr lIns="0" tIns="0" rIns="0" bIns="0" rtlCol="0" anchor="t">
            <a:spAutoFit/>
          </a:bodyPr>
          <a:lstStyle/>
          <a:p>
            <a:pPr algn="l">
              <a:lnSpc>
                <a:spcPts val="9259"/>
              </a:lnSpc>
            </a:pPr>
            <a:r>
              <a:rPr lang="en-US" sz="9545">
                <a:solidFill>
                  <a:srgbClr val="F4F4ED"/>
                </a:solidFill>
                <a:latin typeface="Times New Roman"/>
                <a:ea typeface="Times New Roman"/>
                <a:cs typeface="Times New Roman"/>
                <a:sym typeface="Times New Roman"/>
              </a:rPr>
              <a:t>Model Selection and Pipeline</a:t>
            </a:r>
          </a:p>
          <a:p>
            <a:pPr algn="l">
              <a:lnSpc>
                <a:spcPts val="9259"/>
              </a:lnSpc>
            </a:pPr>
            <a:endParaRPr lang="en-US" sz="9545">
              <a:solidFill>
                <a:srgbClr val="F4F4ED"/>
              </a:solidFill>
              <a:latin typeface="Times New Roman"/>
              <a:ea typeface="Times New Roman"/>
              <a:cs typeface="Times New Roman"/>
              <a:sym typeface="Times New Roman"/>
            </a:endParaRPr>
          </a:p>
        </p:txBody>
      </p:sp>
      <p:sp>
        <p:nvSpPr>
          <p:cNvPr id="5" name="TextBox 5"/>
          <p:cNvSpPr txBox="1"/>
          <p:nvPr/>
        </p:nvSpPr>
        <p:spPr>
          <a:xfrm>
            <a:off x="649449" y="3345065"/>
            <a:ext cx="14226956" cy="1100685"/>
          </a:xfrm>
          <a:prstGeom prst="rect">
            <a:avLst/>
          </a:prstGeom>
        </p:spPr>
        <p:txBody>
          <a:bodyPr lIns="0" tIns="0" rIns="0" bIns="0" rtlCol="0" anchor="t">
            <a:spAutoFit/>
          </a:bodyPr>
          <a:lstStyle/>
          <a:p>
            <a:pPr marL="0" lvl="0" indent="0" algn="just">
              <a:lnSpc>
                <a:spcPts val="4348"/>
              </a:lnSpc>
              <a:spcBef>
                <a:spcPct val="0"/>
              </a:spcBef>
            </a:pPr>
            <a:r>
              <a:rPr lang="en-US" sz="3221" spc="193">
                <a:solidFill>
                  <a:srgbClr val="FFFFFF"/>
                </a:solidFill>
                <a:latin typeface="Times New Roman"/>
                <a:ea typeface="Times New Roman"/>
                <a:cs typeface="Times New Roman"/>
                <a:sym typeface="Times New Roman"/>
              </a:rPr>
              <a:t>Wh</a:t>
            </a:r>
            <a:r>
              <a:rPr lang="en-US" sz="3221" u="none" spc="193">
                <a:solidFill>
                  <a:srgbClr val="FFFFFF"/>
                </a:solidFill>
                <a:latin typeface="Times New Roman"/>
                <a:ea typeface="Times New Roman"/>
                <a:cs typeface="Times New Roman"/>
                <a:sym typeface="Times New Roman"/>
              </a:rPr>
              <a:t>y These Models?</a:t>
            </a:r>
          </a:p>
          <a:p>
            <a:pPr marL="0" lvl="0" indent="0" algn="just">
              <a:lnSpc>
                <a:spcPts val="4348"/>
              </a:lnSpc>
              <a:spcBef>
                <a:spcPct val="0"/>
              </a:spcBef>
            </a:pPr>
            <a:endParaRPr lang="en-US" sz="3221" u="none" spc="193">
              <a:solidFill>
                <a:srgbClr val="FFFFFF"/>
              </a:solidFill>
              <a:latin typeface="Times New Roman"/>
              <a:ea typeface="Times New Roman"/>
              <a:cs typeface="Times New Roman"/>
              <a:sym typeface="Times New Roman"/>
            </a:endParaRPr>
          </a:p>
        </p:txBody>
      </p:sp>
      <p:sp>
        <p:nvSpPr>
          <p:cNvPr id="6" name="Freeform 6"/>
          <p:cNvSpPr/>
          <p:nvPr/>
        </p:nvSpPr>
        <p:spPr>
          <a:xfrm>
            <a:off x="1739158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649449" y="4122890"/>
            <a:ext cx="12673829" cy="1937137"/>
          </a:xfrm>
          <a:prstGeom prst="rect">
            <a:avLst/>
          </a:prstGeom>
        </p:spPr>
        <p:txBody>
          <a:bodyPr lIns="0" tIns="0" rIns="0" bIns="0" rtlCol="0" anchor="t">
            <a:spAutoFit/>
          </a:bodyPr>
          <a:lstStyle/>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Logistic Regression → Used as a baseline model for comparison</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Random Forest → Reduces variance and improves stability</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Gradient Boosting → Builds strong models from weak learners</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XGBoost → Provides regularisation and high predictive performance</a:t>
            </a:r>
          </a:p>
        </p:txBody>
      </p:sp>
      <p:sp>
        <p:nvSpPr>
          <p:cNvPr id="8" name="TextBox 8"/>
          <p:cNvSpPr txBox="1"/>
          <p:nvPr/>
        </p:nvSpPr>
        <p:spPr>
          <a:xfrm>
            <a:off x="649449" y="6491371"/>
            <a:ext cx="12304738" cy="2566416"/>
          </a:xfrm>
          <a:prstGeom prst="rect">
            <a:avLst/>
          </a:prstGeom>
        </p:spPr>
        <p:txBody>
          <a:bodyPr lIns="0" tIns="0" rIns="0" bIns="0" rtlCol="0" anchor="t">
            <a:spAutoFit/>
          </a:bodyPr>
          <a:lstStyle/>
          <a:p>
            <a:pPr algn="l">
              <a:lnSpc>
                <a:spcPts val="3431"/>
              </a:lnSpc>
            </a:pPr>
            <a:r>
              <a:rPr lang="en-US" sz="2199">
                <a:solidFill>
                  <a:srgbClr val="FFFFFF"/>
                </a:solidFill>
                <a:latin typeface="Times New Roman"/>
                <a:ea typeface="Times New Roman"/>
                <a:cs typeface="Times New Roman"/>
                <a:sym typeface="Times New Roman"/>
              </a:rPr>
              <a:t>These models were selected to compare traditional and ensemble approaches.</a:t>
            </a:r>
          </a:p>
          <a:p>
            <a:pPr algn="l">
              <a:lnSpc>
                <a:spcPts val="3431"/>
              </a:lnSpc>
            </a:pPr>
            <a:r>
              <a:rPr lang="en-US" sz="2199">
                <a:solidFill>
                  <a:srgbClr val="FFFFFF"/>
                </a:solidFill>
                <a:latin typeface="Times New Roman"/>
                <a:ea typeface="Times New Roman"/>
                <a:cs typeface="Times New Roman"/>
                <a:sym typeface="Times New Roman"/>
              </a:rPr>
              <a:t> Logistic Regression acts as a baseline, while Random Forest and Gradient Boosting improve performance through ensemble learning.</a:t>
            </a:r>
          </a:p>
          <a:p>
            <a:pPr algn="l">
              <a:lnSpc>
                <a:spcPts val="3431"/>
              </a:lnSpc>
            </a:pPr>
            <a:r>
              <a:rPr lang="en-US" sz="2199">
                <a:solidFill>
                  <a:srgbClr val="FFFFFF"/>
                </a:solidFill>
                <a:latin typeface="Times New Roman"/>
                <a:ea typeface="Times New Roman"/>
                <a:cs typeface="Times New Roman"/>
                <a:sym typeface="Times New Roman"/>
              </a:rPr>
              <a:t> XGBoost was chosen for its regularisation and high accuracy.</a:t>
            </a:r>
          </a:p>
          <a:p>
            <a:pPr algn="l">
              <a:lnSpc>
                <a:spcPts val="3431"/>
              </a:lnSpc>
            </a:pPr>
            <a:r>
              <a:rPr lang="en-US" sz="2199">
                <a:solidFill>
                  <a:srgbClr val="FFFFFF"/>
                </a:solidFill>
                <a:latin typeface="Times New Roman"/>
                <a:ea typeface="Times New Roman"/>
                <a:cs typeface="Times New Roman"/>
                <a:sym typeface="Times New Roman"/>
              </a:rPr>
              <a:t>The project follows a standard pipeline from data preprocessing to model evaluation.</a:t>
            </a:r>
          </a:p>
          <a:p>
            <a:pPr algn="l">
              <a:lnSpc>
                <a:spcPts val="3431"/>
              </a:lnSpc>
            </a:pPr>
            <a:endParaRPr lang="en-US" sz="2199">
              <a:solidFill>
                <a:srgbClr val="FFFFF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sp>
        <p:nvSpPr>
          <p:cNvPr id="4" name="TextBox 4"/>
          <p:cNvSpPr txBox="1"/>
          <p:nvPr/>
        </p:nvSpPr>
        <p:spPr>
          <a:xfrm>
            <a:off x="649449" y="1482912"/>
            <a:ext cx="9828724" cy="1288825"/>
          </a:xfrm>
          <a:prstGeom prst="rect">
            <a:avLst/>
          </a:prstGeom>
        </p:spPr>
        <p:txBody>
          <a:bodyPr lIns="0" tIns="0" rIns="0" bIns="0" rtlCol="0" anchor="t">
            <a:spAutoFit/>
          </a:bodyPr>
          <a:lstStyle/>
          <a:p>
            <a:pPr algn="l">
              <a:lnSpc>
                <a:spcPts val="9259"/>
              </a:lnSpc>
            </a:pPr>
            <a:r>
              <a:rPr lang="en-US" sz="9545">
                <a:solidFill>
                  <a:srgbClr val="F4F4ED"/>
                </a:solidFill>
                <a:latin typeface="Times New Roman"/>
                <a:ea typeface="Times New Roman"/>
                <a:cs typeface="Times New Roman"/>
                <a:sym typeface="Times New Roman"/>
              </a:rPr>
              <a:t>Creation Process</a:t>
            </a:r>
          </a:p>
        </p:txBody>
      </p:sp>
      <p:sp>
        <p:nvSpPr>
          <p:cNvPr id="5" name="TextBox 5"/>
          <p:cNvSpPr txBox="1"/>
          <p:nvPr/>
        </p:nvSpPr>
        <p:spPr>
          <a:xfrm>
            <a:off x="649449" y="3345065"/>
            <a:ext cx="14226956" cy="2729460"/>
          </a:xfrm>
          <a:prstGeom prst="rect">
            <a:avLst/>
          </a:prstGeom>
        </p:spPr>
        <p:txBody>
          <a:bodyPr lIns="0" tIns="0" rIns="0" bIns="0" rtlCol="0" anchor="t">
            <a:spAutoFit/>
          </a:bodyPr>
          <a:lstStyle/>
          <a:p>
            <a:pPr marL="0" lvl="0" indent="0" algn="just">
              <a:lnSpc>
                <a:spcPts val="4348"/>
              </a:lnSpc>
              <a:spcBef>
                <a:spcPct val="0"/>
              </a:spcBef>
            </a:pPr>
            <a:r>
              <a:rPr lang="en-US" sz="3221" spc="193">
                <a:solidFill>
                  <a:srgbClr val="FFFFFF"/>
                </a:solidFill>
                <a:latin typeface="Times New Roman"/>
                <a:ea typeface="Times New Roman"/>
                <a:cs typeface="Times New Roman"/>
                <a:sym typeface="Times New Roman"/>
              </a:rPr>
              <a:t>Th</a:t>
            </a:r>
            <a:r>
              <a:rPr lang="en-US" sz="3221" u="none" spc="193">
                <a:solidFill>
                  <a:srgbClr val="FFFFFF"/>
                </a:solidFill>
                <a:latin typeface="Times New Roman"/>
                <a:ea typeface="Times New Roman"/>
                <a:cs typeface="Times New Roman"/>
                <a:sym typeface="Times New Roman"/>
              </a:rPr>
              <a:t>e project was implemented using Python and machine learning libraries. The dataset was cleaned, processed, and used to train multiple models.</a:t>
            </a:r>
          </a:p>
          <a:p>
            <a:pPr marL="0" lvl="0" indent="0" algn="just">
              <a:lnSpc>
                <a:spcPts val="4348"/>
              </a:lnSpc>
              <a:spcBef>
                <a:spcPct val="0"/>
              </a:spcBef>
            </a:pPr>
            <a:r>
              <a:rPr lang="en-US" sz="3221" u="none" spc="193">
                <a:solidFill>
                  <a:srgbClr val="FFFFFF"/>
                </a:solidFill>
                <a:latin typeface="Times New Roman"/>
                <a:ea typeface="Times New Roman"/>
                <a:cs typeface="Times New Roman"/>
                <a:sym typeface="Times New Roman"/>
              </a:rPr>
              <a:t>Different models were compared to identify the best performing approach for flight delay prediction.</a:t>
            </a:r>
          </a:p>
          <a:p>
            <a:pPr marL="0" lvl="0" indent="0" algn="just">
              <a:lnSpc>
                <a:spcPts val="4348"/>
              </a:lnSpc>
              <a:spcBef>
                <a:spcPct val="0"/>
              </a:spcBef>
            </a:pPr>
            <a:endParaRPr lang="en-US" sz="3221" u="none" spc="193">
              <a:solidFill>
                <a:srgbClr val="FFFFFF"/>
              </a:solidFill>
              <a:latin typeface="Times New Roman"/>
              <a:ea typeface="Times New Roman"/>
              <a:cs typeface="Times New Roman"/>
              <a:sym typeface="Times New Roman"/>
            </a:endParaRPr>
          </a:p>
        </p:txBody>
      </p:sp>
      <p:sp>
        <p:nvSpPr>
          <p:cNvPr id="6" name="Freeform 6"/>
          <p:cNvSpPr/>
          <p:nvPr/>
        </p:nvSpPr>
        <p:spPr>
          <a:xfrm>
            <a:off x="1739158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649449" y="6214562"/>
            <a:ext cx="12673829" cy="2909692"/>
          </a:xfrm>
          <a:prstGeom prst="rect">
            <a:avLst/>
          </a:prstGeom>
        </p:spPr>
        <p:txBody>
          <a:bodyPr lIns="0" tIns="0" rIns="0" bIns="0" rtlCol="0" anchor="t">
            <a:spAutoFit/>
          </a:bodyPr>
          <a:lstStyle/>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Data cleaning and preprocessing (handling missing values).</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Feature engineering to improve model performance including peak hour vs non-peak hour (peak hours = busiest flight times i.e: 09:00 am).</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Created time-based features like hour, day, and month.</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Training models such as Logistic Regression, Random Forest, Gradient Boosting, and XGBoost.</a:t>
            </a:r>
          </a:p>
          <a:p>
            <a:pPr marL="532423" lvl="1" indent="-266211" algn="l">
              <a:lnSpc>
                <a:spcPts val="3847"/>
              </a:lnSpc>
              <a:buFont typeface="Arial"/>
              <a:buChar char="•"/>
            </a:pPr>
            <a:r>
              <a:rPr lang="en-US" sz="2466">
                <a:solidFill>
                  <a:srgbClr val="FFFFFF"/>
                </a:solidFill>
                <a:latin typeface="Times New Roman"/>
                <a:ea typeface="Times New Roman"/>
                <a:cs typeface="Times New Roman"/>
                <a:sym typeface="Times New Roman"/>
              </a:rPr>
              <a:t>Evaluating and comparing models to select the best 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flipH="1">
            <a:off x="-5081945" y="-526518"/>
            <a:ext cx="12221289" cy="8822969"/>
          </a:xfrm>
          <a:custGeom>
            <a:avLst/>
            <a:gdLst/>
            <a:ahLst/>
            <a:cxnLst/>
            <a:rect l="l" t="t" r="r" b="b"/>
            <a:pathLst>
              <a:path w="12221289" h="8822969">
                <a:moveTo>
                  <a:pt x="12221290" y="0"/>
                </a:moveTo>
                <a:lnTo>
                  <a:pt x="0" y="0"/>
                </a:lnTo>
                <a:lnTo>
                  <a:pt x="0" y="8822969"/>
                </a:lnTo>
                <a:lnTo>
                  <a:pt x="12221290" y="8822969"/>
                </a:lnTo>
                <a:lnTo>
                  <a:pt x="12221290" y="0"/>
                </a:lnTo>
                <a:close/>
              </a:path>
            </a:pathLst>
          </a:custGeom>
          <a:blipFill>
            <a:blip r:embed="rId3"/>
            <a:stretch>
              <a:fillRect/>
            </a:stretch>
          </a:blipFill>
        </p:spPr>
      </p:sp>
      <p:grpSp>
        <p:nvGrpSpPr>
          <p:cNvPr id="4" name="Group 4"/>
          <p:cNvGrpSpPr/>
          <p:nvPr/>
        </p:nvGrpSpPr>
        <p:grpSpPr>
          <a:xfrm>
            <a:off x="1478869" y="1564461"/>
            <a:ext cx="14436172" cy="7668096"/>
            <a:chOff x="0" y="0"/>
            <a:chExt cx="19248229" cy="10224128"/>
          </a:xfrm>
        </p:grpSpPr>
        <p:grpSp>
          <p:nvGrpSpPr>
            <p:cNvPr id="5" name="Group 5"/>
            <p:cNvGrpSpPr/>
            <p:nvPr/>
          </p:nvGrpSpPr>
          <p:grpSpPr>
            <a:xfrm>
              <a:off x="0" y="0"/>
              <a:ext cx="9061375" cy="4745688"/>
              <a:chOff x="0" y="0"/>
              <a:chExt cx="1414679" cy="740906"/>
            </a:xfrm>
          </p:grpSpPr>
          <p:sp>
            <p:nvSpPr>
              <p:cNvPr id="6" name="Freeform 6"/>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0" y="5478440"/>
              <a:ext cx="9061375" cy="4745688"/>
              <a:chOff x="0" y="0"/>
              <a:chExt cx="1414679" cy="740906"/>
            </a:xfrm>
          </p:grpSpPr>
          <p:sp>
            <p:nvSpPr>
              <p:cNvPr id="9" name="Freeform 9"/>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0" name="TextBox 10"/>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a:off x="10186854" y="0"/>
              <a:ext cx="9061375" cy="4745688"/>
              <a:chOff x="0" y="0"/>
              <a:chExt cx="1414679" cy="740906"/>
            </a:xfrm>
          </p:grpSpPr>
          <p:sp>
            <p:nvSpPr>
              <p:cNvPr id="12" name="Freeform 12"/>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3" name="TextBox 13"/>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0186854" y="5478440"/>
              <a:ext cx="9061375" cy="4745688"/>
              <a:chOff x="0" y="0"/>
              <a:chExt cx="1414679" cy="740906"/>
            </a:xfrm>
          </p:grpSpPr>
          <p:sp>
            <p:nvSpPr>
              <p:cNvPr id="15" name="Freeform 15"/>
              <p:cNvSpPr/>
              <p:nvPr/>
            </p:nvSpPr>
            <p:spPr>
              <a:xfrm>
                <a:off x="0" y="0"/>
                <a:ext cx="1414679" cy="740906"/>
              </a:xfrm>
              <a:custGeom>
                <a:avLst/>
                <a:gdLst/>
                <a:ahLst/>
                <a:cxnLst/>
                <a:rect l="l" t="t" r="r" b="b"/>
                <a:pathLst>
                  <a:path w="1414679" h="740906">
                    <a:moveTo>
                      <a:pt x="22784" y="0"/>
                    </a:moveTo>
                    <a:lnTo>
                      <a:pt x="1391895" y="0"/>
                    </a:lnTo>
                    <a:cubicBezTo>
                      <a:pt x="1404479" y="0"/>
                      <a:pt x="1414679" y="10201"/>
                      <a:pt x="1414679" y="22784"/>
                    </a:cubicBezTo>
                    <a:lnTo>
                      <a:pt x="1414679" y="718122"/>
                    </a:lnTo>
                    <a:cubicBezTo>
                      <a:pt x="1414679" y="730705"/>
                      <a:pt x="1404479" y="740906"/>
                      <a:pt x="1391895" y="740906"/>
                    </a:cubicBezTo>
                    <a:lnTo>
                      <a:pt x="22784" y="740906"/>
                    </a:lnTo>
                    <a:cubicBezTo>
                      <a:pt x="10201" y="740906"/>
                      <a:pt x="0" y="730705"/>
                      <a:pt x="0" y="718122"/>
                    </a:cubicBezTo>
                    <a:lnTo>
                      <a:pt x="0" y="22784"/>
                    </a:lnTo>
                    <a:cubicBezTo>
                      <a:pt x="0" y="10201"/>
                      <a:pt x="10201" y="0"/>
                      <a:pt x="22784" y="0"/>
                    </a:cubicBezTo>
                    <a:close/>
                  </a:path>
                </a:pathLst>
              </a:custGeom>
              <a:solidFill>
                <a:srgbClr val="04001E"/>
              </a:solidFill>
              <a:ln w="38100" cap="sq">
                <a:solidFill>
                  <a:srgbClr val="E5E1DA"/>
                </a:solidFill>
                <a:prstDash val="solid"/>
                <a:miter/>
              </a:ln>
            </p:spPr>
          </p:sp>
          <p:sp>
            <p:nvSpPr>
              <p:cNvPr id="16" name="TextBox 16"/>
              <p:cNvSpPr txBox="1"/>
              <p:nvPr/>
            </p:nvSpPr>
            <p:spPr>
              <a:xfrm>
                <a:off x="0" y="-38100"/>
                <a:ext cx="1414679" cy="77900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7" name="Group 17"/>
            <p:cNvGrpSpPr/>
            <p:nvPr/>
          </p:nvGrpSpPr>
          <p:grpSpPr>
            <a:xfrm>
              <a:off x="0" y="0"/>
              <a:ext cx="9061375" cy="891648"/>
              <a:chOff x="0" y="0"/>
              <a:chExt cx="1414679" cy="139206"/>
            </a:xfrm>
          </p:grpSpPr>
          <p:sp>
            <p:nvSpPr>
              <p:cNvPr id="18" name="Freeform 18"/>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19" name="TextBox 19"/>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0" y="5478440"/>
              <a:ext cx="9061375" cy="891648"/>
              <a:chOff x="0" y="0"/>
              <a:chExt cx="1414679" cy="139206"/>
            </a:xfrm>
          </p:grpSpPr>
          <p:sp>
            <p:nvSpPr>
              <p:cNvPr id="21" name="Freeform 21"/>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2" name="TextBox 22"/>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186854" y="0"/>
              <a:ext cx="9061375" cy="891648"/>
              <a:chOff x="0" y="0"/>
              <a:chExt cx="1414679" cy="139206"/>
            </a:xfrm>
          </p:grpSpPr>
          <p:sp>
            <p:nvSpPr>
              <p:cNvPr id="24" name="Freeform 24"/>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5" name="TextBox 25"/>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0186854" y="5478440"/>
              <a:ext cx="9061375" cy="891648"/>
              <a:chOff x="0" y="0"/>
              <a:chExt cx="1414679" cy="139206"/>
            </a:xfrm>
          </p:grpSpPr>
          <p:sp>
            <p:nvSpPr>
              <p:cNvPr id="27" name="Freeform 27"/>
              <p:cNvSpPr/>
              <p:nvPr/>
            </p:nvSpPr>
            <p:spPr>
              <a:xfrm>
                <a:off x="0" y="0"/>
                <a:ext cx="1414679" cy="139206"/>
              </a:xfrm>
              <a:custGeom>
                <a:avLst/>
                <a:gdLst/>
                <a:ahLst/>
                <a:cxnLst/>
                <a:rect l="l" t="t" r="r" b="b"/>
                <a:pathLst>
                  <a:path w="1414679" h="139206">
                    <a:moveTo>
                      <a:pt x="19366" y="0"/>
                    </a:moveTo>
                    <a:lnTo>
                      <a:pt x="1395313" y="0"/>
                    </a:lnTo>
                    <a:cubicBezTo>
                      <a:pt x="1400449" y="0"/>
                      <a:pt x="1405375" y="2040"/>
                      <a:pt x="1409007" y="5672"/>
                    </a:cubicBezTo>
                    <a:cubicBezTo>
                      <a:pt x="1412639" y="9304"/>
                      <a:pt x="1414679" y="14230"/>
                      <a:pt x="1414679" y="19366"/>
                    </a:cubicBezTo>
                    <a:lnTo>
                      <a:pt x="1414679" y="119840"/>
                    </a:lnTo>
                    <a:cubicBezTo>
                      <a:pt x="1414679" y="130535"/>
                      <a:pt x="1406009" y="139206"/>
                      <a:pt x="1395313" y="139206"/>
                    </a:cubicBezTo>
                    <a:lnTo>
                      <a:pt x="19366" y="139206"/>
                    </a:lnTo>
                    <a:cubicBezTo>
                      <a:pt x="14230" y="139206"/>
                      <a:pt x="9304" y="137165"/>
                      <a:pt x="5672" y="133534"/>
                    </a:cubicBezTo>
                    <a:cubicBezTo>
                      <a:pt x="2040" y="129902"/>
                      <a:pt x="0" y="124976"/>
                      <a:pt x="0" y="119840"/>
                    </a:cubicBezTo>
                    <a:lnTo>
                      <a:pt x="0" y="19366"/>
                    </a:lnTo>
                    <a:cubicBezTo>
                      <a:pt x="0" y="14230"/>
                      <a:pt x="2040" y="9304"/>
                      <a:pt x="5672" y="5672"/>
                    </a:cubicBezTo>
                    <a:cubicBezTo>
                      <a:pt x="9304" y="2040"/>
                      <a:pt x="14230" y="0"/>
                      <a:pt x="19366" y="0"/>
                    </a:cubicBezTo>
                    <a:close/>
                  </a:path>
                </a:pathLst>
              </a:custGeom>
              <a:solidFill>
                <a:srgbClr val="FFFFFF"/>
              </a:solidFill>
              <a:ln w="19050" cap="sq">
                <a:solidFill>
                  <a:srgbClr val="FFFFFF"/>
                </a:solidFill>
                <a:prstDash val="solid"/>
                <a:miter/>
              </a:ln>
            </p:spPr>
          </p:sp>
          <p:sp>
            <p:nvSpPr>
              <p:cNvPr id="28" name="TextBox 28"/>
              <p:cNvSpPr txBox="1"/>
              <p:nvPr/>
            </p:nvSpPr>
            <p:spPr>
              <a:xfrm>
                <a:off x="0" y="-38100"/>
                <a:ext cx="1414679" cy="177306"/>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570172" y="232049"/>
              <a:ext cx="6725650" cy="439459"/>
            </a:xfrm>
            <a:prstGeom prst="rect">
              <a:avLst/>
            </a:prstGeom>
          </p:spPr>
          <p:txBody>
            <a:bodyPr lIns="0" tIns="0" rIns="0" bIns="0" rtlCol="0" anchor="t">
              <a:spAutoFit/>
            </a:bodyPr>
            <a:lstStyle/>
            <a:p>
              <a:pPr algn="l">
                <a:lnSpc>
                  <a:spcPts val="2495"/>
                </a:lnSpc>
              </a:pPr>
              <a:r>
                <a:rPr lang="en-US" sz="2132" b="1">
                  <a:solidFill>
                    <a:srgbClr val="04001E"/>
                  </a:solidFill>
                  <a:latin typeface="Times New Roman Bold"/>
                  <a:ea typeface="Times New Roman Bold"/>
                  <a:cs typeface="Times New Roman Bold"/>
                  <a:sym typeface="Times New Roman Bold"/>
                </a:rPr>
                <a:t>Weaknesses</a:t>
              </a:r>
            </a:p>
          </p:txBody>
        </p:sp>
        <p:sp>
          <p:nvSpPr>
            <p:cNvPr id="30" name="TextBox 30"/>
            <p:cNvSpPr txBox="1"/>
            <p:nvPr/>
          </p:nvSpPr>
          <p:spPr>
            <a:xfrm>
              <a:off x="10852860" y="232049"/>
              <a:ext cx="6725650" cy="439459"/>
            </a:xfrm>
            <a:prstGeom prst="rect">
              <a:avLst/>
            </a:prstGeom>
          </p:spPr>
          <p:txBody>
            <a:bodyPr lIns="0" tIns="0" rIns="0" bIns="0" rtlCol="0" anchor="t">
              <a:spAutoFit/>
            </a:bodyPr>
            <a:lstStyle/>
            <a:p>
              <a:pPr algn="l">
                <a:lnSpc>
                  <a:spcPts val="2495"/>
                </a:lnSpc>
              </a:pPr>
              <a:r>
                <a:rPr lang="en-US" sz="2132" b="1">
                  <a:solidFill>
                    <a:srgbClr val="04001E"/>
                  </a:solidFill>
                  <a:latin typeface="Times New Roman Bold"/>
                  <a:ea typeface="Times New Roman Bold"/>
                  <a:cs typeface="Times New Roman Bold"/>
                  <a:sym typeface="Times New Roman Bold"/>
                </a:rPr>
                <a:t>Threats</a:t>
              </a:r>
            </a:p>
          </p:txBody>
        </p:sp>
        <p:sp>
          <p:nvSpPr>
            <p:cNvPr id="31" name="TextBox 31"/>
            <p:cNvSpPr txBox="1"/>
            <p:nvPr/>
          </p:nvSpPr>
          <p:spPr>
            <a:xfrm>
              <a:off x="570172" y="5700738"/>
              <a:ext cx="7442437" cy="439459"/>
            </a:xfrm>
            <a:prstGeom prst="rect">
              <a:avLst/>
            </a:prstGeom>
          </p:spPr>
          <p:txBody>
            <a:bodyPr lIns="0" tIns="0" rIns="0" bIns="0" rtlCol="0" anchor="t">
              <a:spAutoFit/>
            </a:bodyPr>
            <a:lstStyle/>
            <a:p>
              <a:pPr algn="l">
                <a:lnSpc>
                  <a:spcPts val="2495"/>
                </a:lnSpc>
              </a:pPr>
              <a:r>
                <a:rPr lang="en-US" sz="2132" b="1">
                  <a:solidFill>
                    <a:srgbClr val="04001E"/>
                  </a:solidFill>
                  <a:latin typeface="Times New Roman Bold"/>
                  <a:ea typeface="Times New Roman Bold"/>
                  <a:cs typeface="Times New Roman Bold"/>
                  <a:sym typeface="Times New Roman Bold"/>
                </a:rPr>
                <a:t>Strengths</a:t>
              </a:r>
            </a:p>
          </p:txBody>
        </p:sp>
        <p:sp>
          <p:nvSpPr>
            <p:cNvPr id="32" name="TextBox 32"/>
            <p:cNvSpPr txBox="1"/>
            <p:nvPr/>
          </p:nvSpPr>
          <p:spPr>
            <a:xfrm>
              <a:off x="10852860" y="5700738"/>
              <a:ext cx="6399394" cy="439459"/>
            </a:xfrm>
            <a:prstGeom prst="rect">
              <a:avLst/>
            </a:prstGeom>
          </p:spPr>
          <p:txBody>
            <a:bodyPr lIns="0" tIns="0" rIns="0" bIns="0" rtlCol="0" anchor="t">
              <a:spAutoFit/>
            </a:bodyPr>
            <a:lstStyle/>
            <a:p>
              <a:pPr algn="l">
                <a:lnSpc>
                  <a:spcPts val="2495"/>
                </a:lnSpc>
              </a:pPr>
              <a:r>
                <a:rPr lang="en-US" sz="2132" b="1">
                  <a:solidFill>
                    <a:srgbClr val="04001E"/>
                  </a:solidFill>
                  <a:latin typeface="Times New Roman Bold"/>
                  <a:ea typeface="Times New Roman Bold"/>
                  <a:cs typeface="Times New Roman Bold"/>
                  <a:sym typeface="Times New Roman Bold"/>
                </a:rPr>
                <a:t>Opportunities</a:t>
              </a:r>
            </a:p>
          </p:txBody>
        </p:sp>
        <p:sp>
          <p:nvSpPr>
            <p:cNvPr id="33" name="TextBox 33"/>
            <p:cNvSpPr txBox="1"/>
            <p:nvPr/>
          </p:nvSpPr>
          <p:spPr>
            <a:xfrm>
              <a:off x="570172" y="1483789"/>
              <a:ext cx="7442437" cy="1477645"/>
            </a:xfrm>
            <a:prstGeom prst="rect">
              <a:avLst/>
            </a:prstGeom>
          </p:spPr>
          <p:txBody>
            <a:bodyPr lIns="0" tIns="0" rIns="0" bIns="0" rtlCol="0" anchor="t">
              <a:spAutoFit/>
            </a:bodyPr>
            <a:lstStyle/>
            <a:p>
              <a:pPr marL="0" lvl="0" indent="0" algn="l">
                <a:lnSpc>
                  <a:spcPts val="2969"/>
                </a:lnSpc>
                <a:spcBef>
                  <a:spcPct val="0"/>
                </a:spcBef>
              </a:pPr>
              <a:r>
                <a:rPr lang="en-US" sz="2199" spc="131">
                  <a:solidFill>
                    <a:srgbClr val="FFFFFF"/>
                  </a:solidFill>
                  <a:latin typeface="Times New Roman"/>
                  <a:ea typeface="Times New Roman"/>
                  <a:cs typeface="Times New Roman"/>
                  <a:sym typeface="Times New Roman"/>
                </a:rPr>
                <a:t>W</a:t>
              </a:r>
              <a:r>
                <a:rPr lang="en-US" sz="2199" u="none" spc="131">
                  <a:solidFill>
                    <a:srgbClr val="FFFFFF"/>
                  </a:solidFill>
                  <a:latin typeface="Times New Roman"/>
                  <a:ea typeface="Times New Roman"/>
                  <a:cs typeface="Times New Roman"/>
                  <a:sym typeface="Times New Roman"/>
                </a:rPr>
                <a:t>eaknesses: Limited to U.S. dataset, no weather or external factors included.</a:t>
              </a:r>
            </a:p>
            <a:p>
              <a:pPr marL="0" lvl="0" indent="0" algn="l">
                <a:lnSpc>
                  <a:spcPts val="2969"/>
                </a:lnSpc>
                <a:spcBef>
                  <a:spcPct val="0"/>
                </a:spcBef>
              </a:pPr>
              <a:endParaRPr lang="en-US" sz="2199" u="none" spc="131">
                <a:solidFill>
                  <a:srgbClr val="FFFFFF"/>
                </a:solidFill>
                <a:latin typeface="Times New Roman"/>
                <a:ea typeface="Times New Roman"/>
                <a:cs typeface="Times New Roman"/>
                <a:sym typeface="Times New Roman"/>
              </a:endParaRPr>
            </a:p>
          </p:txBody>
        </p:sp>
        <p:sp>
          <p:nvSpPr>
            <p:cNvPr id="34" name="TextBox 34"/>
            <p:cNvSpPr txBox="1"/>
            <p:nvPr/>
          </p:nvSpPr>
          <p:spPr>
            <a:xfrm>
              <a:off x="10852860" y="1483789"/>
              <a:ext cx="7442437" cy="1477645"/>
            </a:xfrm>
            <a:prstGeom prst="rect">
              <a:avLst/>
            </a:prstGeom>
          </p:spPr>
          <p:txBody>
            <a:bodyPr lIns="0" tIns="0" rIns="0" bIns="0" rtlCol="0" anchor="t">
              <a:spAutoFit/>
            </a:bodyPr>
            <a:lstStyle/>
            <a:p>
              <a:pPr marL="0" lvl="0" indent="0" algn="l">
                <a:lnSpc>
                  <a:spcPts val="2969"/>
                </a:lnSpc>
                <a:spcBef>
                  <a:spcPct val="0"/>
                </a:spcBef>
              </a:pPr>
              <a:r>
                <a:rPr lang="en-US" sz="2199" spc="131">
                  <a:solidFill>
                    <a:srgbClr val="FFFFFF"/>
                  </a:solidFill>
                  <a:latin typeface="Times New Roman"/>
                  <a:ea typeface="Times New Roman"/>
                  <a:cs typeface="Times New Roman"/>
                  <a:sym typeface="Times New Roman"/>
                </a:rPr>
                <a:t>Th</a:t>
              </a:r>
              <a:r>
                <a:rPr lang="en-US" sz="2199" u="none" spc="131">
                  <a:solidFill>
                    <a:srgbClr val="FFFFFF"/>
                  </a:solidFill>
                  <a:latin typeface="Times New Roman"/>
                  <a:ea typeface="Times New Roman"/>
                  <a:cs typeface="Times New Roman"/>
                  <a:sym typeface="Times New Roman"/>
                </a:rPr>
                <a:t>reats: Changes in flight patterns, data quality issues, model overfitting.</a:t>
              </a:r>
            </a:p>
            <a:p>
              <a:pPr marL="0" lvl="0" indent="0" algn="l">
                <a:lnSpc>
                  <a:spcPts val="2969"/>
                </a:lnSpc>
                <a:spcBef>
                  <a:spcPct val="0"/>
                </a:spcBef>
              </a:pPr>
              <a:endParaRPr lang="en-US" sz="2199" u="none" spc="131">
                <a:solidFill>
                  <a:srgbClr val="FFFFFF"/>
                </a:solidFill>
                <a:latin typeface="Times New Roman"/>
                <a:ea typeface="Times New Roman"/>
                <a:cs typeface="Times New Roman"/>
                <a:sym typeface="Times New Roman"/>
              </a:endParaRPr>
            </a:p>
          </p:txBody>
        </p:sp>
        <p:sp>
          <p:nvSpPr>
            <p:cNvPr id="35" name="TextBox 35"/>
            <p:cNvSpPr txBox="1"/>
            <p:nvPr/>
          </p:nvSpPr>
          <p:spPr>
            <a:xfrm>
              <a:off x="10852860" y="6957463"/>
              <a:ext cx="7442437" cy="1972945"/>
            </a:xfrm>
            <a:prstGeom prst="rect">
              <a:avLst/>
            </a:prstGeom>
          </p:spPr>
          <p:txBody>
            <a:bodyPr lIns="0" tIns="0" rIns="0" bIns="0" rtlCol="0" anchor="t">
              <a:spAutoFit/>
            </a:bodyPr>
            <a:lstStyle/>
            <a:p>
              <a:pPr marL="0" lvl="0" indent="0" algn="l">
                <a:lnSpc>
                  <a:spcPts val="2969"/>
                </a:lnSpc>
                <a:spcBef>
                  <a:spcPct val="0"/>
                </a:spcBef>
              </a:pPr>
              <a:r>
                <a:rPr lang="en-US" sz="2199" spc="131">
                  <a:solidFill>
                    <a:srgbClr val="FFFFFF"/>
                  </a:solidFill>
                  <a:latin typeface="Times New Roman"/>
                  <a:ea typeface="Times New Roman"/>
                  <a:cs typeface="Times New Roman"/>
                  <a:sym typeface="Times New Roman"/>
                </a:rPr>
                <a:t>O</a:t>
              </a:r>
              <a:r>
                <a:rPr lang="en-US" sz="2199" u="none" spc="131">
                  <a:solidFill>
                    <a:srgbClr val="FFFFFF"/>
                  </a:solidFill>
                  <a:latin typeface="Times New Roman"/>
                  <a:ea typeface="Times New Roman"/>
                  <a:cs typeface="Times New Roman"/>
                  <a:sym typeface="Times New Roman"/>
                </a:rPr>
                <a:t>pportunities: Expand to real-time flight monitoring, include weather or airline schedules.</a:t>
              </a:r>
            </a:p>
            <a:p>
              <a:pPr marL="0" lvl="0" indent="0" algn="l">
                <a:lnSpc>
                  <a:spcPts val="2969"/>
                </a:lnSpc>
                <a:spcBef>
                  <a:spcPct val="0"/>
                </a:spcBef>
              </a:pPr>
              <a:endParaRPr lang="en-US" sz="2199" u="none" spc="131">
                <a:solidFill>
                  <a:srgbClr val="FFFFFF"/>
                </a:solidFill>
                <a:latin typeface="Times New Roman"/>
                <a:ea typeface="Times New Roman"/>
                <a:cs typeface="Times New Roman"/>
                <a:sym typeface="Times New Roman"/>
              </a:endParaRPr>
            </a:p>
          </p:txBody>
        </p:sp>
        <p:sp>
          <p:nvSpPr>
            <p:cNvPr id="36" name="TextBox 36"/>
            <p:cNvSpPr txBox="1"/>
            <p:nvPr/>
          </p:nvSpPr>
          <p:spPr>
            <a:xfrm>
              <a:off x="570172" y="6957463"/>
              <a:ext cx="7442437" cy="1477645"/>
            </a:xfrm>
            <a:prstGeom prst="rect">
              <a:avLst/>
            </a:prstGeom>
          </p:spPr>
          <p:txBody>
            <a:bodyPr lIns="0" tIns="0" rIns="0" bIns="0" rtlCol="0" anchor="t">
              <a:spAutoFit/>
            </a:bodyPr>
            <a:lstStyle/>
            <a:p>
              <a:pPr marL="0" lvl="0" indent="0" algn="l">
                <a:lnSpc>
                  <a:spcPts val="2969"/>
                </a:lnSpc>
                <a:spcBef>
                  <a:spcPct val="0"/>
                </a:spcBef>
              </a:pPr>
              <a:r>
                <a:rPr lang="en-US" sz="2199" spc="131">
                  <a:solidFill>
                    <a:srgbClr val="FFFFFF"/>
                  </a:solidFill>
                  <a:latin typeface="Times New Roman"/>
                  <a:ea typeface="Times New Roman"/>
                  <a:cs typeface="Times New Roman"/>
                  <a:sym typeface="Times New Roman"/>
                </a:rPr>
                <a:t>St</a:t>
              </a:r>
              <a:r>
                <a:rPr lang="en-US" sz="2199" u="none" spc="131">
                  <a:solidFill>
                    <a:srgbClr val="FFFFFF"/>
                  </a:solidFill>
                  <a:latin typeface="Times New Roman"/>
                  <a:ea typeface="Times New Roman"/>
                  <a:cs typeface="Times New Roman"/>
                  <a:sym typeface="Times New Roman"/>
                </a:rPr>
                <a:t>rengths: Accurate predictions, use of ensemble models, real-world dataset.</a:t>
              </a:r>
            </a:p>
            <a:p>
              <a:pPr marL="0" lvl="0" indent="0" algn="l">
                <a:lnSpc>
                  <a:spcPts val="2969"/>
                </a:lnSpc>
                <a:spcBef>
                  <a:spcPct val="0"/>
                </a:spcBef>
              </a:pPr>
              <a:endParaRPr lang="en-US" sz="2199" u="none" spc="131">
                <a:solidFill>
                  <a:srgbClr val="FFFFFF"/>
                </a:solidFill>
                <a:latin typeface="Times New Roman"/>
                <a:ea typeface="Times New Roman"/>
                <a:cs typeface="Times New Roman"/>
                <a:sym typeface="Times New Roman"/>
              </a:endParaRPr>
            </a:p>
          </p:txBody>
        </p:sp>
      </p:grpSp>
      <p:sp>
        <p:nvSpPr>
          <p:cNvPr id="37" name="Freeform 37"/>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8" name="TextBox 38"/>
          <p:cNvSpPr txBox="1"/>
          <p:nvPr/>
        </p:nvSpPr>
        <p:spPr>
          <a:xfrm>
            <a:off x="4044066" y="221241"/>
            <a:ext cx="8844114" cy="566421"/>
          </a:xfrm>
          <a:prstGeom prst="rect">
            <a:avLst/>
          </a:prstGeom>
        </p:spPr>
        <p:txBody>
          <a:bodyPr lIns="0" tIns="0" rIns="0" bIns="0" rtlCol="0" anchor="t">
            <a:spAutoFit/>
          </a:bodyPr>
          <a:lstStyle/>
          <a:p>
            <a:pPr algn="ctr">
              <a:lnSpc>
                <a:spcPts val="4479"/>
              </a:lnSpc>
              <a:spcBef>
                <a:spcPct val="0"/>
              </a:spcBef>
            </a:pPr>
            <a:r>
              <a:rPr lang="en-US" sz="3199" b="1">
                <a:solidFill>
                  <a:srgbClr val="FFFFFF"/>
                </a:solidFill>
                <a:latin typeface="Times New Roman Bold"/>
                <a:ea typeface="Times New Roman Bold"/>
                <a:cs typeface="Times New Roman Bold"/>
                <a:sym typeface="Times New Roman Bold"/>
              </a:rPr>
              <a:t> SWOT Analysis</a:t>
            </a:r>
          </a:p>
        </p:txBody>
      </p:sp>
      <p:sp>
        <p:nvSpPr>
          <p:cNvPr id="39" name="TextBox 39"/>
          <p:cNvSpPr txBox="1"/>
          <p:nvPr/>
        </p:nvSpPr>
        <p:spPr>
          <a:xfrm>
            <a:off x="5911547" y="1098763"/>
            <a:ext cx="5570815"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(SWOT = Strengths, Weaknesses, Opportunities, Threats)</a:t>
            </a:r>
          </a:p>
        </p:txBody>
      </p:sp>
      <p:sp>
        <p:nvSpPr>
          <p:cNvPr id="40" name="TextBox 40"/>
          <p:cNvSpPr txBox="1"/>
          <p:nvPr/>
        </p:nvSpPr>
        <p:spPr>
          <a:xfrm>
            <a:off x="1752222" y="9308365"/>
            <a:ext cx="13427801" cy="748665"/>
          </a:xfrm>
          <a:prstGeom prst="rect">
            <a:avLst/>
          </a:prstGeom>
        </p:spPr>
        <p:txBody>
          <a:bodyPr lIns="0" tIns="0" rIns="0" bIns="0" rtlCol="0" anchor="t">
            <a:spAutoFit/>
          </a:bodyPr>
          <a:lstStyle/>
          <a:p>
            <a:pPr algn="ctr">
              <a:lnSpc>
                <a:spcPts val="2969"/>
              </a:lnSpc>
              <a:spcBef>
                <a:spcPct val="0"/>
              </a:spcBef>
            </a:pPr>
            <a:r>
              <a:rPr lang="en-US" sz="2199" spc="131">
                <a:solidFill>
                  <a:srgbClr val="FFFFFF"/>
                </a:solidFill>
                <a:latin typeface="Times New Roman"/>
                <a:ea typeface="Times New Roman"/>
                <a:cs typeface="Times New Roman"/>
                <a:sym typeface="Times New Roman"/>
              </a:rPr>
              <a:t>"Our XGBoost model is neither overfitting nor underfitting. It performs well on both training and test data, showing it can generalize to new flights."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1028700" y="784914"/>
            <a:ext cx="6651794" cy="8238324"/>
            <a:chOff x="0" y="0"/>
            <a:chExt cx="8869058" cy="10984432"/>
          </a:xfrm>
        </p:grpSpPr>
        <p:grpSp>
          <p:nvGrpSpPr>
            <p:cNvPr id="4" name="Group 4"/>
            <p:cNvGrpSpPr/>
            <p:nvPr/>
          </p:nvGrpSpPr>
          <p:grpSpPr>
            <a:xfrm>
              <a:off x="0" y="0"/>
              <a:ext cx="8869058" cy="10984432"/>
              <a:chOff x="0" y="0"/>
              <a:chExt cx="1751913" cy="2169764"/>
            </a:xfrm>
          </p:grpSpPr>
          <p:sp>
            <p:nvSpPr>
              <p:cNvPr id="5" name="Freeform 5"/>
              <p:cNvSpPr/>
              <p:nvPr/>
            </p:nvSpPr>
            <p:spPr>
              <a:xfrm>
                <a:off x="0" y="0"/>
                <a:ext cx="1751913" cy="2169764"/>
              </a:xfrm>
              <a:custGeom>
                <a:avLst/>
                <a:gdLst/>
                <a:ahLst/>
                <a:cxnLst/>
                <a:rect l="l" t="t" r="r" b="b"/>
                <a:pathLst>
                  <a:path w="1751913" h="2169764">
                    <a:moveTo>
                      <a:pt x="23278" y="0"/>
                    </a:moveTo>
                    <a:lnTo>
                      <a:pt x="1728635" y="0"/>
                    </a:lnTo>
                    <a:cubicBezTo>
                      <a:pt x="1734809" y="0"/>
                      <a:pt x="1740729" y="2452"/>
                      <a:pt x="1745095" y="6818"/>
                    </a:cubicBezTo>
                    <a:cubicBezTo>
                      <a:pt x="1749460" y="11183"/>
                      <a:pt x="1751913" y="17104"/>
                      <a:pt x="1751913" y="23278"/>
                    </a:cubicBezTo>
                    <a:lnTo>
                      <a:pt x="1751913" y="2146487"/>
                    </a:lnTo>
                    <a:cubicBezTo>
                      <a:pt x="1751913" y="2159342"/>
                      <a:pt x="1741491" y="2169764"/>
                      <a:pt x="1728635" y="2169764"/>
                    </a:cubicBezTo>
                    <a:lnTo>
                      <a:pt x="23278" y="2169764"/>
                    </a:lnTo>
                    <a:cubicBezTo>
                      <a:pt x="10422" y="2169764"/>
                      <a:pt x="0" y="2159342"/>
                      <a:pt x="0" y="2146487"/>
                    </a:cubicBezTo>
                    <a:lnTo>
                      <a:pt x="0" y="23278"/>
                    </a:lnTo>
                    <a:cubicBezTo>
                      <a:pt x="0" y="10422"/>
                      <a:pt x="10422" y="0"/>
                      <a:pt x="23278" y="0"/>
                    </a:cubicBezTo>
                    <a:close/>
                  </a:path>
                </a:pathLst>
              </a:custGeom>
              <a:solidFill>
                <a:srgbClr val="04001E"/>
              </a:solidFill>
              <a:ln w="38100" cap="sq">
                <a:solidFill>
                  <a:srgbClr val="E5E1DA"/>
                </a:solidFill>
                <a:prstDash val="solid"/>
                <a:miter/>
              </a:ln>
            </p:spPr>
          </p:sp>
          <p:sp>
            <p:nvSpPr>
              <p:cNvPr id="6" name="TextBox 6"/>
              <p:cNvSpPr txBox="1"/>
              <p:nvPr/>
            </p:nvSpPr>
            <p:spPr>
              <a:xfrm>
                <a:off x="0" y="-38100"/>
                <a:ext cx="1751913" cy="2207864"/>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773802" y="1935281"/>
              <a:ext cx="7100470" cy="772132"/>
            </a:xfrm>
            <a:prstGeom prst="rect">
              <a:avLst/>
            </a:prstGeom>
          </p:spPr>
          <p:txBody>
            <a:bodyPr lIns="0" tIns="0" rIns="0" bIns="0" rtlCol="0" anchor="t">
              <a:spAutoFit/>
            </a:bodyPr>
            <a:lstStyle/>
            <a:p>
              <a:pPr algn="l">
                <a:lnSpc>
                  <a:spcPts val="4060"/>
                </a:lnSpc>
              </a:pPr>
              <a:r>
                <a:rPr lang="en-US" sz="4186">
                  <a:solidFill>
                    <a:srgbClr val="FFFFFF"/>
                  </a:solidFill>
                  <a:latin typeface="Times New Roman"/>
                  <a:ea typeface="Times New Roman"/>
                  <a:cs typeface="Times New Roman"/>
                  <a:sym typeface="Times New Roman"/>
                </a:rPr>
                <a:t>Important Features</a:t>
              </a:r>
            </a:p>
          </p:txBody>
        </p:sp>
        <p:sp>
          <p:nvSpPr>
            <p:cNvPr id="8" name="TextBox 8"/>
            <p:cNvSpPr txBox="1"/>
            <p:nvPr/>
          </p:nvSpPr>
          <p:spPr>
            <a:xfrm>
              <a:off x="773802" y="3803375"/>
              <a:ext cx="6647088" cy="2654300"/>
            </a:xfrm>
            <a:prstGeom prst="rect">
              <a:avLst/>
            </a:prstGeom>
          </p:spPr>
          <p:txBody>
            <a:bodyPr lIns="0" tIns="0" rIns="0" bIns="0" rtlCol="0" anchor="t">
              <a:spAutoFit/>
            </a:bodyPr>
            <a:lstStyle/>
            <a:p>
              <a:pPr marL="0" lvl="0" indent="0" algn="l">
                <a:lnSpc>
                  <a:spcPts val="2699"/>
                </a:lnSpc>
                <a:spcBef>
                  <a:spcPct val="0"/>
                </a:spcBef>
              </a:pPr>
              <a:r>
                <a:rPr lang="en-US" sz="1999" spc="119">
                  <a:solidFill>
                    <a:srgbClr val="FFFFFF"/>
                  </a:solidFill>
                  <a:latin typeface="Times New Roman"/>
                  <a:ea typeface="Times New Roman"/>
                  <a:cs typeface="Times New Roman"/>
                  <a:sym typeface="Times New Roman"/>
                </a:rPr>
                <a:t>Th</a:t>
              </a:r>
              <a:r>
                <a:rPr lang="en-US" sz="1999" u="none" spc="119">
                  <a:solidFill>
                    <a:srgbClr val="FFFFFF"/>
                  </a:solidFill>
                  <a:latin typeface="Times New Roman"/>
                  <a:ea typeface="Times New Roman"/>
                  <a:cs typeface="Times New Roman"/>
                  <a:sym typeface="Times New Roman"/>
                </a:rPr>
                <a:t>e key features influencing flight delays were analysed across all models. Ensemble models such as Random Forest, Gradient Boosting, and XGBoost highlight which factors matter most.</a:t>
              </a:r>
            </a:p>
            <a:p>
              <a:pPr marL="0" lvl="0" indent="0" algn="l">
                <a:lnSpc>
                  <a:spcPts val="2699"/>
                </a:lnSpc>
                <a:spcBef>
                  <a:spcPct val="0"/>
                </a:spcBef>
              </a:pPr>
              <a:endParaRPr lang="en-US" sz="1999" u="none" spc="119">
                <a:solidFill>
                  <a:srgbClr val="FFFFFF"/>
                </a:solidFill>
                <a:latin typeface="Times New Roman"/>
                <a:ea typeface="Times New Roman"/>
                <a:cs typeface="Times New Roman"/>
                <a:sym typeface="Times New Roman"/>
              </a:endParaRPr>
            </a:p>
          </p:txBody>
        </p:sp>
      </p:grpSp>
      <p:sp>
        <p:nvSpPr>
          <p:cNvPr id="9" name="Freeform 9"/>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rot="-1542318" flipV="1">
            <a:off x="11968542" y="-103561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4"/>
            <a:stretch>
              <a:fillRect/>
            </a:stretch>
          </a:blipFill>
        </p:spPr>
      </p:sp>
      <p:grpSp>
        <p:nvGrpSpPr>
          <p:cNvPr id="11" name="Group 11"/>
          <p:cNvGrpSpPr/>
          <p:nvPr/>
        </p:nvGrpSpPr>
        <p:grpSpPr>
          <a:xfrm>
            <a:off x="8115300" y="1565491"/>
            <a:ext cx="9144000" cy="6299957"/>
            <a:chOff x="0" y="0"/>
            <a:chExt cx="12192000" cy="8399942"/>
          </a:xfrm>
        </p:grpSpPr>
        <p:grpSp>
          <p:nvGrpSpPr>
            <p:cNvPr id="12" name="Group 12"/>
            <p:cNvGrpSpPr/>
            <p:nvPr/>
          </p:nvGrpSpPr>
          <p:grpSpPr>
            <a:xfrm>
              <a:off x="0" y="0"/>
              <a:ext cx="12192000" cy="8399942"/>
              <a:chOff x="0" y="0"/>
              <a:chExt cx="2708553" cy="1866116"/>
            </a:xfrm>
          </p:grpSpPr>
          <p:sp>
            <p:nvSpPr>
              <p:cNvPr id="13" name="Freeform 13"/>
              <p:cNvSpPr/>
              <p:nvPr/>
            </p:nvSpPr>
            <p:spPr>
              <a:xfrm>
                <a:off x="0" y="0"/>
                <a:ext cx="2708553" cy="1866116"/>
              </a:xfrm>
              <a:custGeom>
                <a:avLst/>
                <a:gdLst/>
                <a:ahLst/>
                <a:cxnLst/>
                <a:rect l="l" t="t" r="r" b="b"/>
                <a:pathLst>
                  <a:path w="2708553" h="1866116">
                    <a:moveTo>
                      <a:pt x="15056" y="0"/>
                    </a:moveTo>
                    <a:lnTo>
                      <a:pt x="2693497" y="0"/>
                    </a:lnTo>
                    <a:cubicBezTo>
                      <a:pt x="2701812" y="0"/>
                      <a:pt x="2708553" y="6741"/>
                      <a:pt x="2708553" y="15056"/>
                    </a:cubicBezTo>
                    <a:lnTo>
                      <a:pt x="2708553" y="1851060"/>
                    </a:lnTo>
                    <a:cubicBezTo>
                      <a:pt x="2708553" y="1855053"/>
                      <a:pt x="2706967" y="1858883"/>
                      <a:pt x="2704143" y="1861707"/>
                    </a:cubicBezTo>
                    <a:cubicBezTo>
                      <a:pt x="2701320" y="1864530"/>
                      <a:pt x="2697490" y="1866116"/>
                      <a:pt x="2693497" y="1866116"/>
                    </a:cubicBezTo>
                    <a:lnTo>
                      <a:pt x="15056" y="1866116"/>
                    </a:lnTo>
                    <a:cubicBezTo>
                      <a:pt x="6741" y="1866116"/>
                      <a:pt x="0" y="1859375"/>
                      <a:pt x="0" y="1851060"/>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id="14" name="TextBox 14"/>
              <p:cNvSpPr txBox="1"/>
              <p:nvPr/>
            </p:nvSpPr>
            <p:spPr>
              <a:xfrm>
                <a:off x="0" y="-38100"/>
                <a:ext cx="2708553" cy="1904216"/>
              </a:xfrm>
              <a:prstGeom prst="rect">
                <a:avLst/>
              </a:prstGeom>
            </p:spPr>
            <p:txBody>
              <a:bodyPr lIns="50800" tIns="50800" rIns="50800" bIns="50800" rtlCol="0" anchor="ctr"/>
              <a:lstStyle/>
              <a:p>
                <a:pPr algn="ctr">
                  <a:lnSpc>
                    <a:spcPts val="2660"/>
                  </a:lnSpc>
                </a:pPr>
                <a:endParaRPr/>
              </a:p>
            </p:txBody>
          </p:sp>
        </p:grpSp>
        <p:sp>
          <p:nvSpPr>
            <p:cNvPr id="15" name="TextBox 15"/>
            <p:cNvSpPr txBox="1"/>
            <p:nvPr/>
          </p:nvSpPr>
          <p:spPr>
            <a:xfrm>
              <a:off x="1063719" y="3967793"/>
              <a:ext cx="9137531" cy="407206"/>
            </a:xfrm>
            <a:prstGeom prst="rect">
              <a:avLst/>
            </a:prstGeom>
          </p:spPr>
          <p:txBody>
            <a:bodyPr lIns="0" tIns="0" rIns="0" bIns="0" rtlCol="0" anchor="t">
              <a:spAutoFit/>
            </a:bodyPr>
            <a:lstStyle/>
            <a:p>
              <a:pPr marL="0" lvl="0" indent="0" algn="l">
                <a:lnSpc>
                  <a:spcPts val="2400"/>
                </a:lnSpc>
                <a:spcBef>
                  <a:spcPct val="0"/>
                </a:spcBef>
              </a:pPr>
              <a:endParaRPr/>
            </a:p>
          </p:txBody>
        </p:sp>
      </p:grpSp>
      <p:sp>
        <p:nvSpPr>
          <p:cNvPr id="16" name="TextBox 16"/>
          <p:cNvSpPr txBox="1"/>
          <p:nvPr/>
        </p:nvSpPr>
        <p:spPr>
          <a:xfrm>
            <a:off x="8208278" y="2812666"/>
            <a:ext cx="8958044" cy="3093064"/>
          </a:xfrm>
          <a:prstGeom prst="rect">
            <a:avLst/>
          </a:prstGeom>
        </p:spPr>
        <p:txBody>
          <a:bodyPr lIns="0" tIns="0" rIns="0" bIns="0" rtlCol="0" anchor="t">
            <a:spAutoFit/>
          </a:bodyPr>
          <a:lstStyle/>
          <a:p>
            <a:pPr algn="l">
              <a:lnSpc>
                <a:spcPts val="2766"/>
              </a:lnSpc>
            </a:pPr>
            <a:endParaRPr/>
          </a:p>
          <a:p>
            <a:pPr marL="426582" lvl="1" indent="-213291" algn="l">
              <a:lnSpc>
                <a:spcPts val="2766"/>
              </a:lnSpc>
              <a:buFont typeface="Arial"/>
              <a:buChar char="•"/>
            </a:pPr>
            <a:r>
              <a:rPr lang="en-US" sz="1975">
                <a:solidFill>
                  <a:srgbClr val="FFFFFF"/>
                </a:solidFill>
                <a:latin typeface="Times New Roman"/>
                <a:ea typeface="Times New Roman"/>
                <a:cs typeface="Times New Roman"/>
                <a:sym typeface="Times New Roman"/>
              </a:rPr>
              <a:t>Departure time: Flights leaving during peak hours are more likely to be delayed.</a:t>
            </a:r>
          </a:p>
          <a:p>
            <a:pPr algn="l">
              <a:lnSpc>
                <a:spcPts val="2766"/>
              </a:lnSpc>
            </a:pPr>
            <a:endParaRPr lang="en-US" sz="1975">
              <a:solidFill>
                <a:srgbClr val="FFFFFF"/>
              </a:solidFill>
              <a:latin typeface="Times New Roman"/>
              <a:ea typeface="Times New Roman"/>
              <a:cs typeface="Times New Roman"/>
              <a:sym typeface="Times New Roman"/>
            </a:endParaRPr>
          </a:p>
          <a:p>
            <a:pPr marL="426582" lvl="1" indent="-213291" algn="l">
              <a:lnSpc>
                <a:spcPts val="2766"/>
              </a:lnSpc>
              <a:buFont typeface="Arial"/>
              <a:buChar char="•"/>
            </a:pPr>
            <a:r>
              <a:rPr lang="en-US" sz="1975">
                <a:solidFill>
                  <a:srgbClr val="FFFFFF"/>
                </a:solidFill>
                <a:latin typeface="Times New Roman"/>
                <a:ea typeface="Times New Roman"/>
                <a:cs typeface="Times New Roman"/>
                <a:sym typeface="Times New Roman"/>
              </a:rPr>
              <a:t>Airline carrier: Some airlines have higher or lower average delays due to operational efficiency.</a:t>
            </a:r>
          </a:p>
          <a:p>
            <a:pPr algn="l">
              <a:lnSpc>
                <a:spcPts val="2766"/>
              </a:lnSpc>
            </a:pPr>
            <a:endParaRPr lang="en-US" sz="1975">
              <a:solidFill>
                <a:srgbClr val="FFFFFF"/>
              </a:solidFill>
              <a:latin typeface="Times New Roman"/>
              <a:ea typeface="Times New Roman"/>
              <a:cs typeface="Times New Roman"/>
              <a:sym typeface="Times New Roman"/>
            </a:endParaRPr>
          </a:p>
          <a:p>
            <a:pPr marL="426582" lvl="1" indent="-213291" algn="l">
              <a:lnSpc>
                <a:spcPts val="2766"/>
              </a:lnSpc>
              <a:buFont typeface="Arial"/>
              <a:buChar char="•"/>
            </a:pPr>
            <a:r>
              <a:rPr lang="en-US" sz="1975">
                <a:solidFill>
                  <a:srgbClr val="FFFFFF"/>
                </a:solidFill>
                <a:latin typeface="Times New Roman"/>
                <a:ea typeface="Times New Roman"/>
                <a:cs typeface="Times New Roman"/>
                <a:sym typeface="Times New Roman"/>
              </a:rPr>
              <a:t>Flight distance: Longer flights have a higher risk of delay propagation.</a:t>
            </a:r>
          </a:p>
          <a:p>
            <a:pPr algn="l">
              <a:lnSpc>
                <a:spcPts val="2766"/>
              </a:lnSpc>
            </a:pPr>
            <a:endParaRPr lang="en-US" sz="1975">
              <a:solidFill>
                <a:srgbClr val="FFFFFF"/>
              </a:solidFill>
              <a:latin typeface="Times New Roman"/>
              <a:ea typeface="Times New Roman"/>
              <a:cs typeface="Times New Roman"/>
              <a:sym typeface="Times New Roman"/>
            </a:endParaRPr>
          </a:p>
          <a:p>
            <a:pPr marL="426582" lvl="1" indent="-213291" algn="l">
              <a:lnSpc>
                <a:spcPts val="2766"/>
              </a:lnSpc>
              <a:buFont typeface="Arial"/>
              <a:buChar char="•"/>
            </a:pPr>
            <a:r>
              <a:rPr lang="en-US" sz="1975">
                <a:solidFill>
                  <a:srgbClr val="FFFFFF"/>
                </a:solidFill>
                <a:latin typeface="Times New Roman"/>
                <a:ea typeface="Times New Roman"/>
                <a:cs typeface="Times New Roman"/>
                <a:sym typeface="Times New Roman"/>
              </a:rPr>
              <a:t>Day of week / Month: Time-based variables affect delay probability.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537312" y="1656127"/>
            <a:ext cx="9031284" cy="7191086"/>
            <a:chOff x="0" y="0"/>
            <a:chExt cx="12041711" cy="9588114"/>
          </a:xfrm>
        </p:grpSpPr>
        <p:grpSp>
          <p:nvGrpSpPr>
            <p:cNvPr id="5" name="Group 5"/>
            <p:cNvGrpSpPr/>
            <p:nvPr/>
          </p:nvGrpSpPr>
          <p:grpSpPr>
            <a:xfrm>
              <a:off x="0" y="0"/>
              <a:ext cx="12041711" cy="9588114"/>
              <a:chOff x="0" y="0"/>
              <a:chExt cx="2378610" cy="1893949"/>
            </a:xfrm>
          </p:grpSpPr>
          <p:sp>
            <p:nvSpPr>
              <p:cNvPr id="6" name="Freeform 6"/>
              <p:cNvSpPr/>
              <p:nvPr/>
            </p:nvSpPr>
            <p:spPr>
              <a:xfrm>
                <a:off x="0" y="0"/>
                <a:ext cx="2378610" cy="1893949"/>
              </a:xfrm>
              <a:custGeom>
                <a:avLst/>
                <a:gdLst/>
                <a:ahLst/>
                <a:cxnLst/>
                <a:rect l="l" t="t" r="r" b="b"/>
                <a:pathLst>
                  <a:path w="2378610" h="1893949">
                    <a:moveTo>
                      <a:pt x="17145" y="0"/>
                    </a:moveTo>
                    <a:lnTo>
                      <a:pt x="2361465" y="0"/>
                    </a:lnTo>
                    <a:cubicBezTo>
                      <a:pt x="2366012" y="0"/>
                      <a:pt x="2370373" y="1806"/>
                      <a:pt x="2373588" y="5022"/>
                    </a:cubicBezTo>
                    <a:cubicBezTo>
                      <a:pt x="2376803" y="8237"/>
                      <a:pt x="2378610" y="12598"/>
                      <a:pt x="2378610" y="17145"/>
                    </a:cubicBezTo>
                    <a:lnTo>
                      <a:pt x="2378610" y="1876804"/>
                    </a:lnTo>
                    <a:cubicBezTo>
                      <a:pt x="2378610" y="1881351"/>
                      <a:pt x="2376803" y="1885712"/>
                      <a:pt x="2373588" y="1888927"/>
                    </a:cubicBezTo>
                    <a:cubicBezTo>
                      <a:pt x="2370373" y="1892142"/>
                      <a:pt x="2366012" y="1893949"/>
                      <a:pt x="2361465" y="1893949"/>
                    </a:cubicBezTo>
                    <a:lnTo>
                      <a:pt x="17145" y="1893949"/>
                    </a:lnTo>
                    <a:cubicBezTo>
                      <a:pt x="12598" y="1893949"/>
                      <a:pt x="8237" y="1892142"/>
                      <a:pt x="5022" y="1888927"/>
                    </a:cubicBezTo>
                    <a:cubicBezTo>
                      <a:pt x="1806" y="1885712"/>
                      <a:pt x="0" y="1881351"/>
                      <a:pt x="0" y="1876804"/>
                    </a:cubicBezTo>
                    <a:lnTo>
                      <a:pt x="0" y="17145"/>
                    </a:lnTo>
                    <a:cubicBezTo>
                      <a:pt x="0" y="12598"/>
                      <a:pt x="1806" y="8237"/>
                      <a:pt x="5022" y="5022"/>
                    </a:cubicBezTo>
                    <a:cubicBezTo>
                      <a:pt x="8237" y="1806"/>
                      <a:pt x="12598" y="0"/>
                      <a:pt x="17145"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2378610" cy="193204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49801" y="1129093"/>
              <a:ext cx="10515900" cy="758318"/>
            </a:xfrm>
            <a:prstGeom prst="rect">
              <a:avLst/>
            </a:prstGeom>
          </p:spPr>
          <p:txBody>
            <a:bodyPr lIns="0" tIns="0" rIns="0" bIns="0" rtlCol="0" anchor="t">
              <a:spAutoFit/>
            </a:bodyPr>
            <a:lstStyle/>
            <a:p>
              <a:pPr algn="l">
                <a:lnSpc>
                  <a:spcPts val="3949"/>
                </a:lnSpc>
              </a:pPr>
              <a:r>
                <a:rPr lang="en-US" sz="4071">
                  <a:solidFill>
                    <a:srgbClr val="F4F4ED"/>
                  </a:solidFill>
                  <a:latin typeface="Times New Roman"/>
                  <a:ea typeface="Times New Roman"/>
                  <a:cs typeface="Times New Roman"/>
                  <a:sym typeface="Times New Roman"/>
                </a:rPr>
                <a:t>Performance Comparison of Models</a:t>
              </a:r>
            </a:p>
          </p:txBody>
        </p:sp>
        <p:sp>
          <p:nvSpPr>
            <p:cNvPr id="9" name="TextBox 9"/>
            <p:cNvSpPr txBox="1"/>
            <p:nvPr/>
          </p:nvSpPr>
          <p:spPr>
            <a:xfrm>
              <a:off x="297282" y="4171944"/>
              <a:ext cx="11268418" cy="2186973"/>
            </a:xfrm>
            <a:prstGeom prst="rect">
              <a:avLst/>
            </a:prstGeom>
          </p:spPr>
          <p:txBody>
            <a:bodyPr lIns="0" tIns="0" rIns="0" bIns="0" rtlCol="0" anchor="t">
              <a:spAutoFit/>
            </a:bodyPr>
            <a:lstStyle/>
            <a:p>
              <a:pPr marL="0" lvl="0" indent="0" algn="l">
                <a:lnSpc>
                  <a:spcPts val="3329"/>
                </a:lnSpc>
                <a:spcBef>
                  <a:spcPct val="0"/>
                </a:spcBef>
              </a:pPr>
              <a:r>
                <a:rPr lang="en-US" sz="2466" spc="147">
                  <a:solidFill>
                    <a:srgbClr val="FFFFFF"/>
                  </a:solidFill>
                  <a:latin typeface="Times New Roman"/>
                  <a:ea typeface="Times New Roman"/>
                  <a:cs typeface="Times New Roman"/>
                  <a:sym typeface="Times New Roman"/>
                </a:rPr>
                <a:t>All m</a:t>
              </a:r>
              <a:r>
                <a:rPr lang="en-US" sz="2466" u="none" spc="147">
                  <a:solidFill>
                    <a:srgbClr val="FFFFFF"/>
                  </a:solidFill>
                  <a:latin typeface="Times New Roman"/>
                  <a:ea typeface="Times New Roman"/>
                  <a:cs typeface="Times New Roman"/>
                  <a:sym typeface="Times New Roman"/>
                </a:rPr>
                <a:t>odels were evaluated using accuracy, ROC-AUC. Ensemble models outperform Logistic Regression, with XGBoost achieving the highest predictive performance.</a:t>
              </a:r>
            </a:p>
            <a:p>
              <a:pPr algn="l">
                <a:lnSpc>
                  <a:spcPts val="3329"/>
                </a:lnSpc>
              </a:pPr>
              <a:endParaRPr lang="en-US" sz="2466" u="none" spc="147">
                <a:solidFill>
                  <a:srgbClr val="FFFFFF"/>
                </a:solidFill>
                <a:latin typeface="Times New Roman"/>
                <a:ea typeface="Times New Roman"/>
                <a:cs typeface="Times New Roman"/>
                <a:sym typeface="Times New Roman"/>
              </a:endParaRPr>
            </a:p>
          </p:txBody>
        </p:sp>
      </p:grpSp>
      <p:sp>
        <p:nvSpPr>
          <p:cNvPr id="10" name="Freeform 10"/>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0143053" y="4298071"/>
            <a:ext cx="7342594" cy="3479655"/>
          </a:xfrm>
          <a:custGeom>
            <a:avLst/>
            <a:gdLst/>
            <a:ahLst/>
            <a:cxnLst/>
            <a:rect l="l" t="t" r="r" b="b"/>
            <a:pathLst>
              <a:path w="7342594" h="3479655">
                <a:moveTo>
                  <a:pt x="0" y="0"/>
                </a:moveTo>
                <a:lnTo>
                  <a:pt x="7342593" y="0"/>
                </a:lnTo>
                <a:lnTo>
                  <a:pt x="7342593" y="3479656"/>
                </a:lnTo>
                <a:lnTo>
                  <a:pt x="0" y="3479656"/>
                </a:lnTo>
                <a:lnTo>
                  <a:pt x="0" y="0"/>
                </a:lnTo>
                <a:close/>
              </a:path>
            </a:pathLst>
          </a:custGeom>
          <a:blipFill>
            <a:blip r:embed="rId5"/>
            <a:stretch>
              <a:fillRect t="-3350" b="-3350"/>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291917" y="1314460"/>
            <a:ext cx="8852083" cy="8397766"/>
            <a:chOff x="0" y="0"/>
            <a:chExt cx="2331413" cy="2211757"/>
          </a:xfrm>
        </p:grpSpPr>
        <p:sp>
          <p:nvSpPr>
            <p:cNvPr id="5" name="Freeform 5"/>
            <p:cNvSpPr/>
            <p:nvPr/>
          </p:nvSpPr>
          <p:spPr>
            <a:xfrm>
              <a:off x="0" y="0"/>
              <a:ext cx="2331413" cy="2211757"/>
            </a:xfrm>
            <a:custGeom>
              <a:avLst/>
              <a:gdLst/>
              <a:ahLst/>
              <a:cxnLst/>
              <a:rect l="l" t="t" r="r" b="b"/>
              <a:pathLst>
                <a:path w="2331413" h="2211757">
                  <a:moveTo>
                    <a:pt x="17492" y="0"/>
                  </a:moveTo>
                  <a:lnTo>
                    <a:pt x="2313921" y="0"/>
                  </a:lnTo>
                  <a:cubicBezTo>
                    <a:pt x="2323582" y="0"/>
                    <a:pt x="2331413" y="7831"/>
                    <a:pt x="2331413" y="17492"/>
                  </a:cubicBezTo>
                  <a:lnTo>
                    <a:pt x="2331413" y="2194265"/>
                  </a:lnTo>
                  <a:cubicBezTo>
                    <a:pt x="2331413" y="2203926"/>
                    <a:pt x="2323582" y="2211757"/>
                    <a:pt x="2313921" y="2211757"/>
                  </a:cubicBezTo>
                  <a:lnTo>
                    <a:pt x="17492" y="2211757"/>
                  </a:lnTo>
                  <a:cubicBezTo>
                    <a:pt x="7831" y="2211757"/>
                    <a:pt x="0" y="2203926"/>
                    <a:pt x="0" y="2194265"/>
                  </a:cubicBezTo>
                  <a:lnTo>
                    <a:pt x="0" y="17492"/>
                  </a:lnTo>
                  <a:cubicBezTo>
                    <a:pt x="0" y="7831"/>
                    <a:pt x="7831" y="0"/>
                    <a:pt x="17492" y="0"/>
                  </a:cubicBezTo>
                  <a:close/>
                </a:path>
              </a:pathLst>
            </a:custGeom>
            <a:solidFill>
              <a:srgbClr val="04001E"/>
            </a:solidFill>
            <a:ln w="38100" cap="sq">
              <a:solidFill>
                <a:srgbClr val="E5E1DA"/>
              </a:solidFill>
              <a:prstDash val="solid"/>
              <a:miter/>
            </a:ln>
          </p:spPr>
        </p:sp>
        <p:sp>
          <p:nvSpPr>
            <p:cNvPr id="6" name="TextBox 6"/>
            <p:cNvSpPr txBox="1"/>
            <p:nvPr/>
          </p:nvSpPr>
          <p:spPr>
            <a:xfrm>
              <a:off x="0" y="-57150"/>
              <a:ext cx="2331413" cy="2268907"/>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2271832" y="727092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9435917" y="1314460"/>
            <a:ext cx="8553278" cy="8397766"/>
            <a:chOff x="0" y="0"/>
            <a:chExt cx="2252715" cy="2211757"/>
          </a:xfrm>
        </p:grpSpPr>
        <p:sp>
          <p:nvSpPr>
            <p:cNvPr id="9" name="Freeform 9"/>
            <p:cNvSpPr/>
            <p:nvPr/>
          </p:nvSpPr>
          <p:spPr>
            <a:xfrm>
              <a:off x="0" y="0"/>
              <a:ext cx="2252715" cy="2211757"/>
            </a:xfrm>
            <a:custGeom>
              <a:avLst/>
              <a:gdLst/>
              <a:ahLst/>
              <a:cxnLst/>
              <a:rect l="l" t="t" r="r" b="b"/>
              <a:pathLst>
                <a:path w="2252715" h="2211757">
                  <a:moveTo>
                    <a:pt x="18103" y="0"/>
                  </a:moveTo>
                  <a:lnTo>
                    <a:pt x="2234612" y="0"/>
                  </a:lnTo>
                  <a:cubicBezTo>
                    <a:pt x="2244610" y="0"/>
                    <a:pt x="2252715" y="8105"/>
                    <a:pt x="2252715" y="18103"/>
                  </a:cubicBezTo>
                  <a:lnTo>
                    <a:pt x="2252715" y="2193654"/>
                  </a:lnTo>
                  <a:cubicBezTo>
                    <a:pt x="2252715" y="2203652"/>
                    <a:pt x="2244610" y="2211757"/>
                    <a:pt x="2234612" y="2211757"/>
                  </a:cubicBezTo>
                  <a:lnTo>
                    <a:pt x="18103" y="2211757"/>
                  </a:lnTo>
                  <a:cubicBezTo>
                    <a:pt x="8105" y="2211757"/>
                    <a:pt x="0" y="2203652"/>
                    <a:pt x="0" y="2193654"/>
                  </a:cubicBezTo>
                  <a:lnTo>
                    <a:pt x="0" y="18103"/>
                  </a:lnTo>
                  <a:cubicBezTo>
                    <a:pt x="0" y="8105"/>
                    <a:pt x="8105" y="0"/>
                    <a:pt x="18103" y="0"/>
                  </a:cubicBezTo>
                  <a:close/>
                </a:path>
              </a:pathLst>
            </a:custGeom>
            <a:solidFill>
              <a:srgbClr val="04001E"/>
            </a:solidFill>
            <a:ln w="38100" cap="sq">
              <a:solidFill>
                <a:srgbClr val="E5E1DA"/>
              </a:solidFill>
              <a:prstDash val="solid"/>
              <a:miter/>
            </a:ln>
          </p:spPr>
        </p:sp>
        <p:sp>
          <p:nvSpPr>
            <p:cNvPr id="10" name="TextBox 10"/>
            <p:cNvSpPr txBox="1"/>
            <p:nvPr/>
          </p:nvSpPr>
          <p:spPr>
            <a:xfrm>
              <a:off x="0" y="-57150"/>
              <a:ext cx="2252715" cy="2268907"/>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410420" y="1934974"/>
            <a:ext cx="6615077" cy="4706657"/>
          </a:xfrm>
          <a:custGeom>
            <a:avLst/>
            <a:gdLst/>
            <a:ahLst/>
            <a:cxnLst/>
            <a:rect l="l" t="t" r="r" b="b"/>
            <a:pathLst>
              <a:path w="6615077" h="4706657">
                <a:moveTo>
                  <a:pt x="0" y="0"/>
                </a:moveTo>
                <a:lnTo>
                  <a:pt x="6615077" y="0"/>
                </a:lnTo>
                <a:lnTo>
                  <a:pt x="6615077" y="4706656"/>
                </a:lnTo>
                <a:lnTo>
                  <a:pt x="0" y="4706656"/>
                </a:lnTo>
                <a:lnTo>
                  <a:pt x="0" y="0"/>
                </a:lnTo>
                <a:close/>
              </a:path>
            </a:pathLst>
          </a:custGeom>
          <a:blipFill>
            <a:blip r:embed="rId5"/>
            <a:stretch>
              <a:fillRect/>
            </a:stretch>
          </a:blipFill>
        </p:spPr>
      </p:sp>
      <p:sp>
        <p:nvSpPr>
          <p:cNvPr id="12" name="Freeform 12"/>
          <p:cNvSpPr/>
          <p:nvPr/>
        </p:nvSpPr>
        <p:spPr>
          <a:xfrm>
            <a:off x="9899783" y="2245440"/>
            <a:ext cx="7625547" cy="4085723"/>
          </a:xfrm>
          <a:custGeom>
            <a:avLst/>
            <a:gdLst/>
            <a:ahLst/>
            <a:cxnLst/>
            <a:rect l="l" t="t" r="r" b="b"/>
            <a:pathLst>
              <a:path w="7625547" h="4085723">
                <a:moveTo>
                  <a:pt x="0" y="0"/>
                </a:moveTo>
                <a:lnTo>
                  <a:pt x="7625546" y="0"/>
                </a:lnTo>
                <a:lnTo>
                  <a:pt x="7625546" y="4085724"/>
                </a:lnTo>
                <a:lnTo>
                  <a:pt x="0" y="4085724"/>
                </a:lnTo>
                <a:lnTo>
                  <a:pt x="0" y="0"/>
                </a:lnTo>
                <a:close/>
              </a:path>
            </a:pathLst>
          </a:custGeom>
          <a:blipFill>
            <a:blip r:embed="rId6"/>
            <a:stretch>
              <a:fillRect/>
            </a:stretch>
          </a:blipFill>
        </p:spPr>
      </p:sp>
      <p:sp>
        <p:nvSpPr>
          <p:cNvPr id="13" name="TextBox 13"/>
          <p:cNvSpPr txBox="1"/>
          <p:nvPr/>
        </p:nvSpPr>
        <p:spPr>
          <a:xfrm>
            <a:off x="1416604" y="6824957"/>
            <a:ext cx="6608893" cy="1953895"/>
          </a:xfrm>
          <a:prstGeom prst="rect">
            <a:avLst/>
          </a:prstGeom>
        </p:spPr>
        <p:txBody>
          <a:bodyPr lIns="0" tIns="0" rIns="0" bIns="0" rtlCol="0" anchor="t">
            <a:spAutoFit/>
          </a:bodyPr>
          <a:lstStyle/>
          <a:p>
            <a:pPr algn="ctr">
              <a:lnSpc>
                <a:spcPts val="3079"/>
              </a:lnSpc>
              <a:spcBef>
                <a:spcPct val="0"/>
              </a:spcBef>
            </a:pPr>
            <a:r>
              <a:rPr lang="en-US" sz="2199">
                <a:solidFill>
                  <a:srgbClr val="FFFFFF"/>
                </a:solidFill>
                <a:latin typeface="Times New Roman"/>
                <a:ea typeface="Times New Roman"/>
                <a:cs typeface="Times New Roman"/>
                <a:sym typeface="Times New Roman"/>
              </a:rPr>
              <a:t>This graph shows that flights during peak hours have more delays than non-peak hours. This is because airports are busier at that time. So, peak hour is an important factor in our model.0 -Non-peak (less busy),1 -Peak (busy time)</a:t>
            </a:r>
          </a:p>
          <a:p>
            <a:pPr algn="ctr">
              <a:lnSpc>
                <a:spcPts val="3079"/>
              </a:lnSpc>
              <a:spcBef>
                <a:spcPct val="0"/>
              </a:spcBef>
            </a:pPr>
            <a:endParaRPr lang="en-US" sz="2199">
              <a:solidFill>
                <a:srgbClr val="FFFFFF"/>
              </a:solidFill>
              <a:latin typeface="Times New Roman"/>
              <a:ea typeface="Times New Roman"/>
              <a:cs typeface="Times New Roman"/>
              <a:sym typeface="Times New Roman"/>
            </a:endParaRPr>
          </a:p>
        </p:txBody>
      </p:sp>
      <p:sp>
        <p:nvSpPr>
          <p:cNvPr id="14" name="TextBox 14"/>
          <p:cNvSpPr txBox="1"/>
          <p:nvPr/>
        </p:nvSpPr>
        <p:spPr>
          <a:xfrm>
            <a:off x="9791750" y="6635031"/>
            <a:ext cx="7733579" cy="782320"/>
          </a:xfrm>
          <a:prstGeom prst="rect">
            <a:avLst/>
          </a:prstGeom>
        </p:spPr>
        <p:txBody>
          <a:bodyPr lIns="0" tIns="0" rIns="0" bIns="0" rtlCol="0" anchor="t">
            <a:spAutoFit/>
          </a:bodyPr>
          <a:lstStyle/>
          <a:p>
            <a:pPr algn="ctr">
              <a:lnSpc>
                <a:spcPts val="3079"/>
              </a:lnSpc>
              <a:spcBef>
                <a:spcPct val="0"/>
              </a:spcBef>
            </a:pPr>
            <a:r>
              <a:rPr lang="en-US" sz="2199">
                <a:solidFill>
                  <a:srgbClr val="FFFFFF"/>
                </a:solidFill>
                <a:latin typeface="Times New Roman"/>
                <a:ea typeface="Times New Roman"/>
                <a:cs typeface="Times New Roman"/>
                <a:sym typeface="Times New Roman"/>
              </a:rPr>
              <a:t>Most flights are on time or have small delays, but a few flights have big delays.”</a:t>
            </a:r>
          </a:p>
        </p:txBody>
      </p:sp>
      <p:sp>
        <p:nvSpPr>
          <p:cNvPr id="15" name="TextBox 15"/>
          <p:cNvSpPr txBox="1"/>
          <p:nvPr/>
        </p:nvSpPr>
        <p:spPr>
          <a:xfrm>
            <a:off x="291917" y="179068"/>
            <a:ext cx="18483049" cy="849632"/>
          </a:xfrm>
          <a:prstGeom prst="rect">
            <a:avLst/>
          </a:prstGeom>
        </p:spPr>
        <p:txBody>
          <a:bodyPr lIns="0" tIns="0" rIns="0" bIns="0" rtlCol="0" anchor="t">
            <a:spAutoFit/>
          </a:bodyPr>
          <a:lstStyle/>
          <a:p>
            <a:pPr algn="ctr">
              <a:lnSpc>
                <a:spcPts val="6719"/>
              </a:lnSpc>
              <a:spcBef>
                <a:spcPct val="0"/>
              </a:spcBef>
            </a:pPr>
            <a:r>
              <a:rPr lang="en-US" sz="4799">
                <a:solidFill>
                  <a:srgbClr val="FFFFFF"/>
                </a:solidFill>
                <a:latin typeface="Times New Roman"/>
                <a:ea typeface="Times New Roman"/>
                <a:cs typeface="Times New Roman"/>
                <a:sym typeface="Times New Roman"/>
              </a:rPr>
              <a:t>Visualizations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291917" y="1314460"/>
            <a:ext cx="8852083" cy="7328819"/>
            <a:chOff x="0" y="0"/>
            <a:chExt cx="2331413" cy="1930224"/>
          </a:xfrm>
        </p:grpSpPr>
        <p:sp>
          <p:nvSpPr>
            <p:cNvPr id="5" name="Freeform 5"/>
            <p:cNvSpPr/>
            <p:nvPr/>
          </p:nvSpPr>
          <p:spPr>
            <a:xfrm>
              <a:off x="0" y="0"/>
              <a:ext cx="2331413" cy="1930224"/>
            </a:xfrm>
            <a:custGeom>
              <a:avLst/>
              <a:gdLst/>
              <a:ahLst/>
              <a:cxnLst/>
              <a:rect l="l" t="t" r="r" b="b"/>
              <a:pathLst>
                <a:path w="2331413" h="1930224">
                  <a:moveTo>
                    <a:pt x="17492" y="0"/>
                  </a:moveTo>
                  <a:lnTo>
                    <a:pt x="2313921" y="0"/>
                  </a:lnTo>
                  <a:cubicBezTo>
                    <a:pt x="2323582" y="0"/>
                    <a:pt x="2331413" y="7831"/>
                    <a:pt x="2331413" y="17492"/>
                  </a:cubicBezTo>
                  <a:lnTo>
                    <a:pt x="2331413" y="1912732"/>
                  </a:lnTo>
                  <a:cubicBezTo>
                    <a:pt x="2331413" y="1922393"/>
                    <a:pt x="2323582" y="1930224"/>
                    <a:pt x="2313921" y="1930224"/>
                  </a:cubicBezTo>
                  <a:lnTo>
                    <a:pt x="17492" y="1930224"/>
                  </a:lnTo>
                  <a:cubicBezTo>
                    <a:pt x="7831" y="1930224"/>
                    <a:pt x="0" y="1922393"/>
                    <a:pt x="0" y="1912732"/>
                  </a:cubicBezTo>
                  <a:lnTo>
                    <a:pt x="0" y="17492"/>
                  </a:lnTo>
                  <a:cubicBezTo>
                    <a:pt x="0" y="7831"/>
                    <a:pt x="7831" y="0"/>
                    <a:pt x="17492" y="0"/>
                  </a:cubicBezTo>
                  <a:close/>
                </a:path>
              </a:pathLst>
            </a:custGeom>
            <a:solidFill>
              <a:srgbClr val="04001E"/>
            </a:solidFill>
            <a:ln w="38100" cap="sq">
              <a:solidFill>
                <a:srgbClr val="E5E1DA"/>
              </a:solidFill>
              <a:prstDash val="solid"/>
              <a:miter/>
            </a:ln>
          </p:spPr>
        </p:sp>
        <p:sp>
          <p:nvSpPr>
            <p:cNvPr id="6" name="TextBox 6"/>
            <p:cNvSpPr txBox="1"/>
            <p:nvPr/>
          </p:nvSpPr>
          <p:spPr>
            <a:xfrm>
              <a:off x="0" y="-57150"/>
              <a:ext cx="2331413" cy="1987374"/>
            </a:xfrm>
            <a:prstGeom prst="rect">
              <a:avLst/>
            </a:prstGeom>
          </p:spPr>
          <p:txBody>
            <a:bodyPr lIns="50800" tIns="50800" rIns="50800" bIns="50800" rtlCol="0" anchor="ctr"/>
            <a:lstStyle/>
            <a:p>
              <a:pPr algn="ctr">
                <a:lnSpc>
                  <a:spcPts val="2659"/>
                </a:lnSpc>
              </a:pPr>
              <a:endParaRPr/>
            </a:p>
          </p:txBody>
        </p:sp>
      </p:grpSp>
      <p:sp>
        <p:nvSpPr>
          <p:cNvPr id="7" name="Freeform 7"/>
          <p:cNvSpPr/>
          <p:nvPr/>
        </p:nvSpPr>
        <p:spPr>
          <a:xfrm>
            <a:off x="12271832" y="7270926"/>
            <a:ext cx="896420" cy="896420"/>
          </a:xfrm>
          <a:custGeom>
            <a:avLst/>
            <a:gdLst/>
            <a:ahLst/>
            <a:cxnLst/>
            <a:rect l="l" t="t" r="r" b="b"/>
            <a:pathLst>
              <a:path w="896420" h="896420">
                <a:moveTo>
                  <a:pt x="0" y="0"/>
                </a:moveTo>
                <a:lnTo>
                  <a:pt x="896421" y="0"/>
                </a:lnTo>
                <a:lnTo>
                  <a:pt x="896421" y="896421"/>
                </a:lnTo>
                <a:lnTo>
                  <a:pt x="0" y="896421"/>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9435917" y="1314460"/>
            <a:ext cx="8553278" cy="7328819"/>
            <a:chOff x="0" y="0"/>
            <a:chExt cx="2252715" cy="1930224"/>
          </a:xfrm>
        </p:grpSpPr>
        <p:sp>
          <p:nvSpPr>
            <p:cNvPr id="9" name="Freeform 9"/>
            <p:cNvSpPr/>
            <p:nvPr/>
          </p:nvSpPr>
          <p:spPr>
            <a:xfrm>
              <a:off x="0" y="0"/>
              <a:ext cx="2252715" cy="1930224"/>
            </a:xfrm>
            <a:custGeom>
              <a:avLst/>
              <a:gdLst/>
              <a:ahLst/>
              <a:cxnLst/>
              <a:rect l="l" t="t" r="r" b="b"/>
              <a:pathLst>
                <a:path w="2252715" h="1930224">
                  <a:moveTo>
                    <a:pt x="18103" y="0"/>
                  </a:moveTo>
                  <a:lnTo>
                    <a:pt x="2234612" y="0"/>
                  </a:lnTo>
                  <a:cubicBezTo>
                    <a:pt x="2244610" y="0"/>
                    <a:pt x="2252715" y="8105"/>
                    <a:pt x="2252715" y="18103"/>
                  </a:cubicBezTo>
                  <a:lnTo>
                    <a:pt x="2252715" y="1912121"/>
                  </a:lnTo>
                  <a:cubicBezTo>
                    <a:pt x="2252715" y="1922119"/>
                    <a:pt x="2244610" y="1930224"/>
                    <a:pt x="2234612" y="1930224"/>
                  </a:cubicBezTo>
                  <a:lnTo>
                    <a:pt x="18103" y="1930224"/>
                  </a:lnTo>
                  <a:cubicBezTo>
                    <a:pt x="8105" y="1930224"/>
                    <a:pt x="0" y="1922119"/>
                    <a:pt x="0" y="1912121"/>
                  </a:cubicBezTo>
                  <a:lnTo>
                    <a:pt x="0" y="18103"/>
                  </a:lnTo>
                  <a:cubicBezTo>
                    <a:pt x="0" y="8105"/>
                    <a:pt x="8105" y="0"/>
                    <a:pt x="18103" y="0"/>
                  </a:cubicBezTo>
                  <a:close/>
                </a:path>
              </a:pathLst>
            </a:custGeom>
            <a:solidFill>
              <a:srgbClr val="04001E"/>
            </a:solidFill>
            <a:ln w="38100" cap="sq">
              <a:solidFill>
                <a:srgbClr val="E5E1DA"/>
              </a:solidFill>
              <a:prstDash val="solid"/>
              <a:miter/>
            </a:ln>
          </p:spPr>
        </p:sp>
        <p:sp>
          <p:nvSpPr>
            <p:cNvPr id="10" name="TextBox 10"/>
            <p:cNvSpPr txBox="1"/>
            <p:nvPr/>
          </p:nvSpPr>
          <p:spPr>
            <a:xfrm>
              <a:off x="0" y="-57150"/>
              <a:ext cx="2252715" cy="1987374"/>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028700" y="2256569"/>
            <a:ext cx="7405550" cy="4100877"/>
          </a:xfrm>
          <a:custGeom>
            <a:avLst/>
            <a:gdLst/>
            <a:ahLst/>
            <a:cxnLst/>
            <a:rect l="l" t="t" r="r" b="b"/>
            <a:pathLst>
              <a:path w="7405550" h="4100877">
                <a:moveTo>
                  <a:pt x="0" y="0"/>
                </a:moveTo>
                <a:lnTo>
                  <a:pt x="7405550" y="0"/>
                </a:lnTo>
                <a:lnTo>
                  <a:pt x="7405550" y="4100876"/>
                </a:lnTo>
                <a:lnTo>
                  <a:pt x="0" y="4100876"/>
                </a:lnTo>
                <a:lnTo>
                  <a:pt x="0" y="0"/>
                </a:lnTo>
                <a:close/>
              </a:path>
            </a:pathLst>
          </a:custGeom>
          <a:blipFill>
            <a:blip r:embed="rId5"/>
            <a:stretch>
              <a:fillRect/>
            </a:stretch>
          </a:blipFill>
        </p:spPr>
      </p:sp>
      <p:sp>
        <p:nvSpPr>
          <p:cNvPr id="12" name="Freeform 12"/>
          <p:cNvSpPr/>
          <p:nvPr/>
        </p:nvSpPr>
        <p:spPr>
          <a:xfrm>
            <a:off x="9789523" y="2448825"/>
            <a:ext cx="7846066" cy="3701394"/>
          </a:xfrm>
          <a:custGeom>
            <a:avLst/>
            <a:gdLst/>
            <a:ahLst/>
            <a:cxnLst/>
            <a:rect l="l" t="t" r="r" b="b"/>
            <a:pathLst>
              <a:path w="7846066" h="3701394">
                <a:moveTo>
                  <a:pt x="0" y="0"/>
                </a:moveTo>
                <a:lnTo>
                  <a:pt x="7846066" y="0"/>
                </a:lnTo>
                <a:lnTo>
                  <a:pt x="7846066" y="3701394"/>
                </a:lnTo>
                <a:lnTo>
                  <a:pt x="0" y="3701394"/>
                </a:lnTo>
                <a:lnTo>
                  <a:pt x="0" y="0"/>
                </a:lnTo>
                <a:close/>
              </a:path>
            </a:pathLst>
          </a:custGeom>
          <a:blipFill>
            <a:blip r:embed="rId6"/>
            <a:stretch>
              <a:fillRect b="-2455"/>
            </a:stretch>
          </a:blipFill>
        </p:spPr>
      </p:sp>
      <p:sp>
        <p:nvSpPr>
          <p:cNvPr id="13" name="TextBox 13"/>
          <p:cNvSpPr txBox="1"/>
          <p:nvPr/>
        </p:nvSpPr>
        <p:spPr>
          <a:xfrm>
            <a:off x="1413685" y="6491582"/>
            <a:ext cx="4644152" cy="167576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Delay rates change depending on the month</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Summer and winter have more delays</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Fall months have fewer delays</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This shows a seasonal pattern</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So, month is an important feature</a:t>
            </a:r>
          </a:p>
        </p:txBody>
      </p:sp>
      <p:sp>
        <p:nvSpPr>
          <p:cNvPr id="14" name="TextBox 14"/>
          <p:cNvSpPr txBox="1"/>
          <p:nvPr/>
        </p:nvSpPr>
        <p:spPr>
          <a:xfrm>
            <a:off x="9144000" y="6641027"/>
            <a:ext cx="8553278"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#so delay depends on airline </a:t>
            </a:r>
          </a:p>
        </p:txBody>
      </p:sp>
      <p:sp>
        <p:nvSpPr>
          <p:cNvPr id="15" name="TextBox 15"/>
          <p:cNvSpPr txBox="1"/>
          <p:nvPr/>
        </p:nvSpPr>
        <p:spPr>
          <a:xfrm>
            <a:off x="9435917" y="7634264"/>
            <a:ext cx="8553278" cy="100901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This graph shows that some airlines have more delays than others. A few airlines perform better with fewer delays.</a:t>
            </a:r>
          </a:p>
          <a:p>
            <a:pPr algn="ctr">
              <a:lnSpc>
                <a:spcPts val="2659"/>
              </a:lnSpc>
              <a:spcBef>
                <a:spcPct val="0"/>
              </a:spcBef>
            </a:pPr>
            <a:endParaRPr lang="en-US" sz="1899">
              <a:solidFill>
                <a:srgbClr val="FFFFFF"/>
              </a:solidFill>
              <a:latin typeface="Times New Roman"/>
              <a:ea typeface="Times New Roman"/>
              <a:cs typeface="Times New Roman"/>
              <a:sym typeface="Times New Roman"/>
            </a:endParaRPr>
          </a:p>
        </p:txBody>
      </p:sp>
      <p:sp>
        <p:nvSpPr>
          <p:cNvPr id="16" name="TextBox 16"/>
          <p:cNvSpPr txBox="1"/>
          <p:nvPr/>
        </p:nvSpPr>
        <p:spPr>
          <a:xfrm>
            <a:off x="3706243" y="9201150"/>
            <a:ext cx="9968865"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“Delays depend on the month and the airline. Some months and airlines have more delays than others.”</a:t>
            </a:r>
          </a:p>
        </p:txBody>
      </p:sp>
      <p:sp>
        <p:nvSpPr>
          <p:cNvPr id="17" name="TextBox 17"/>
          <p:cNvSpPr txBox="1"/>
          <p:nvPr/>
        </p:nvSpPr>
        <p:spPr>
          <a:xfrm>
            <a:off x="291917" y="179068"/>
            <a:ext cx="18483049" cy="849632"/>
          </a:xfrm>
          <a:prstGeom prst="rect">
            <a:avLst/>
          </a:prstGeom>
        </p:spPr>
        <p:txBody>
          <a:bodyPr lIns="0" tIns="0" rIns="0" bIns="0" rtlCol="0" anchor="t">
            <a:spAutoFit/>
          </a:bodyPr>
          <a:lstStyle/>
          <a:p>
            <a:pPr algn="ctr">
              <a:lnSpc>
                <a:spcPts val="6719"/>
              </a:lnSpc>
              <a:spcBef>
                <a:spcPct val="0"/>
              </a:spcBef>
            </a:pPr>
            <a:r>
              <a:rPr lang="en-US" sz="4799">
                <a:solidFill>
                  <a:srgbClr val="FFFFFF"/>
                </a:solidFill>
                <a:latin typeface="Times New Roman"/>
                <a:ea typeface="Times New Roman"/>
                <a:cs typeface="Times New Roman"/>
                <a:sym typeface="Times New Roman"/>
              </a:rPr>
              <a:t>Visualizations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70467" y="1028700"/>
            <a:ext cx="8231606" cy="4031807"/>
          </a:xfrm>
          <a:custGeom>
            <a:avLst/>
            <a:gdLst/>
            <a:ahLst/>
            <a:cxnLst/>
            <a:rect l="l" t="t" r="r" b="b"/>
            <a:pathLst>
              <a:path w="8231606" h="4031807">
                <a:moveTo>
                  <a:pt x="0" y="0"/>
                </a:moveTo>
                <a:lnTo>
                  <a:pt x="8231606" y="0"/>
                </a:lnTo>
                <a:lnTo>
                  <a:pt x="8231606" y="4031807"/>
                </a:lnTo>
                <a:lnTo>
                  <a:pt x="0" y="4031807"/>
                </a:lnTo>
                <a:lnTo>
                  <a:pt x="0" y="0"/>
                </a:lnTo>
                <a:close/>
              </a:path>
            </a:pathLst>
          </a:custGeom>
          <a:blipFill>
            <a:blip r:embed="rId4"/>
            <a:stretch>
              <a:fillRect/>
            </a:stretch>
          </a:blipFill>
        </p:spPr>
      </p:sp>
      <p:sp>
        <p:nvSpPr>
          <p:cNvPr id="5" name="Freeform 5"/>
          <p:cNvSpPr/>
          <p:nvPr/>
        </p:nvSpPr>
        <p:spPr>
          <a:xfrm>
            <a:off x="9675560" y="1028700"/>
            <a:ext cx="8031950" cy="3934016"/>
          </a:xfrm>
          <a:custGeom>
            <a:avLst/>
            <a:gdLst/>
            <a:ahLst/>
            <a:cxnLst/>
            <a:rect l="l" t="t" r="r" b="b"/>
            <a:pathLst>
              <a:path w="8031950" h="3934016">
                <a:moveTo>
                  <a:pt x="0" y="0"/>
                </a:moveTo>
                <a:lnTo>
                  <a:pt x="8031950" y="0"/>
                </a:lnTo>
                <a:lnTo>
                  <a:pt x="8031950" y="3934016"/>
                </a:lnTo>
                <a:lnTo>
                  <a:pt x="0" y="3934016"/>
                </a:lnTo>
                <a:lnTo>
                  <a:pt x="0" y="0"/>
                </a:lnTo>
                <a:close/>
              </a:path>
            </a:pathLst>
          </a:custGeom>
          <a:blipFill>
            <a:blip r:embed="rId5"/>
            <a:stretch>
              <a:fillRect/>
            </a:stretch>
          </a:blipFill>
        </p:spPr>
      </p:sp>
      <p:sp>
        <p:nvSpPr>
          <p:cNvPr id="6" name="Freeform 6"/>
          <p:cNvSpPr/>
          <p:nvPr/>
        </p:nvSpPr>
        <p:spPr>
          <a:xfrm>
            <a:off x="470467" y="5828546"/>
            <a:ext cx="8231606" cy="4031807"/>
          </a:xfrm>
          <a:custGeom>
            <a:avLst/>
            <a:gdLst/>
            <a:ahLst/>
            <a:cxnLst/>
            <a:rect l="l" t="t" r="r" b="b"/>
            <a:pathLst>
              <a:path w="8231606" h="4031807">
                <a:moveTo>
                  <a:pt x="0" y="0"/>
                </a:moveTo>
                <a:lnTo>
                  <a:pt x="8231606" y="0"/>
                </a:lnTo>
                <a:lnTo>
                  <a:pt x="8231606" y="4031807"/>
                </a:lnTo>
                <a:lnTo>
                  <a:pt x="0" y="4031807"/>
                </a:lnTo>
                <a:lnTo>
                  <a:pt x="0" y="0"/>
                </a:lnTo>
                <a:close/>
              </a:path>
            </a:pathLst>
          </a:custGeom>
          <a:blipFill>
            <a:blip r:embed="rId6"/>
            <a:stretch>
              <a:fillRect/>
            </a:stretch>
          </a:blipFill>
        </p:spPr>
      </p:sp>
      <p:sp>
        <p:nvSpPr>
          <p:cNvPr id="7" name="TextBox 7"/>
          <p:cNvSpPr txBox="1"/>
          <p:nvPr/>
        </p:nvSpPr>
        <p:spPr>
          <a:xfrm>
            <a:off x="9675560" y="6348191"/>
            <a:ext cx="8372085" cy="2906791"/>
          </a:xfrm>
          <a:prstGeom prst="rect">
            <a:avLst/>
          </a:prstGeom>
        </p:spPr>
        <p:txBody>
          <a:bodyPr lIns="0" tIns="0" rIns="0" bIns="0" rtlCol="0" anchor="t">
            <a:spAutoFit/>
          </a:bodyPr>
          <a:lstStyle/>
          <a:p>
            <a:pPr algn="l">
              <a:lnSpc>
                <a:spcPts val="4633"/>
              </a:lnSpc>
              <a:spcBef>
                <a:spcPct val="0"/>
              </a:spcBef>
            </a:pPr>
            <a:r>
              <a:rPr lang="en-US" sz="3309">
                <a:solidFill>
                  <a:srgbClr val="FFFFFF"/>
                </a:solidFill>
                <a:latin typeface="Times New Roman"/>
                <a:ea typeface="Times New Roman"/>
                <a:cs typeface="Times New Roman"/>
                <a:sym typeface="Times New Roman"/>
              </a:rPr>
              <a:t>These graphs show which features are most important for predicting flight delays. Departure time is the top factor in all models. XGBoost also highlights peak hour as very important, which helps improve prediction accuracy.”</a:t>
            </a:r>
          </a:p>
        </p:txBody>
      </p:sp>
      <p:sp>
        <p:nvSpPr>
          <p:cNvPr id="8" name="TextBox 8"/>
          <p:cNvSpPr txBox="1"/>
          <p:nvPr/>
        </p:nvSpPr>
        <p:spPr>
          <a:xfrm>
            <a:off x="-7102628" y="-123825"/>
            <a:ext cx="18483049" cy="849632"/>
          </a:xfrm>
          <a:prstGeom prst="rect">
            <a:avLst/>
          </a:prstGeom>
        </p:spPr>
        <p:txBody>
          <a:bodyPr lIns="0" tIns="0" rIns="0" bIns="0" rtlCol="0" anchor="t">
            <a:spAutoFit/>
          </a:bodyPr>
          <a:lstStyle/>
          <a:p>
            <a:pPr algn="ctr">
              <a:lnSpc>
                <a:spcPts val="6719"/>
              </a:lnSpc>
              <a:spcBef>
                <a:spcPct val="0"/>
              </a:spcBef>
            </a:pPr>
            <a:r>
              <a:rPr lang="en-US" sz="4799">
                <a:solidFill>
                  <a:srgbClr val="FFFFFF"/>
                </a:solidFill>
                <a:latin typeface="Times New Roman"/>
                <a:ea typeface="Times New Roman"/>
                <a:cs typeface="Times New Roman"/>
                <a:sym typeface="Times New Roman"/>
              </a:rPr>
              <a:t>Visualizations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sp>
        <p:nvSpPr>
          <p:cNvPr id="4" name="Freeform 4"/>
          <p:cNvSpPr/>
          <p:nvPr/>
        </p:nvSpPr>
        <p:spPr>
          <a:xfrm rot="-4964539">
            <a:off x="-3802556" y="1310789"/>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5" name="Group 5"/>
          <p:cNvGrpSpPr/>
          <p:nvPr/>
        </p:nvGrpSpPr>
        <p:grpSpPr>
          <a:xfrm>
            <a:off x="291917" y="194136"/>
            <a:ext cx="8852083" cy="7596554"/>
            <a:chOff x="0" y="0"/>
            <a:chExt cx="2331413" cy="2000739"/>
          </a:xfrm>
        </p:grpSpPr>
        <p:sp>
          <p:nvSpPr>
            <p:cNvPr id="6" name="Freeform 6"/>
            <p:cNvSpPr/>
            <p:nvPr/>
          </p:nvSpPr>
          <p:spPr>
            <a:xfrm>
              <a:off x="0" y="0"/>
              <a:ext cx="2331413" cy="2000739"/>
            </a:xfrm>
            <a:custGeom>
              <a:avLst/>
              <a:gdLst/>
              <a:ahLst/>
              <a:cxnLst/>
              <a:rect l="l" t="t" r="r" b="b"/>
              <a:pathLst>
                <a:path w="2331413" h="2000739">
                  <a:moveTo>
                    <a:pt x="17492" y="0"/>
                  </a:moveTo>
                  <a:lnTo>
                    <a:pt x="2313921" y="0"/>
                  </a:lnTo>
                  <a:cubicBezTo>
                    <a:pt x="2323582" y="0"/>
                    <a:pt x="2331413" y="7831"/>
                    <a:pt x="2331413" y="17492"/>
                  </a:cubicBezTo>
                  <a:lnTo>
                    <a:pt x="2331413" y="1983247"/>
                  </a:lnTo>
                  <a:cubicBezTo>
                    <a:pt x="2331413" y="1992907"/>
                    <a:pt x="2323582" y="2000739"/>
                    <a:pt x="2313921" y="2000739"/>
                  </a:cubicBezTo>
                  <a:lnTo>
                    <a:pt x="17492" y="2000739"/>
                  </a:lnTo>
                  <a:cubicBezTo>
                    <a:pt x="7831" y="2000739"/>
                    <a:pt x="0" y="1992907"/>
                    <a:pt x="0" y="1983247"/>
                  </a:cubicBezTo>
                  <a:lnTo>
                    <a:pt x="0" y="17492"/>
                  </a:lnTo>
                  <a:cubicBezTo>
                    <a:pt x="0" y="7831"/>
                    <a:pt x="7831" y="0"/>
                    <a:pt x="17492" y="0"/>
                  </a:cubicBezTo>
                  <a:close/>
                </a:path>
              </a:pathLst>
            </a:custGeom>
            <a:solidFill>
              <a:srgbClr val="04001E"/>
            </a:solidFill>
            <a:ln w="38100" cap="sq">
              <a:solidFill>
                <a:srgbClr val="E5E1DA"/>
              </a:solidFill>
              <a:prstDash val="solid"/>
              <a:miter/>
            </a:ln>
          </p:spPr>
        </p:sp>
        <p:sp>
          <p:nvSpPr>
            <p:cNvPr id="7" name="TextBox 7"/>
            <p:cNvSpPr txBox="1"/>
            <p:nvPr/>
          </p:nvSpPr>
          <p:spPr>
            <a:xfrm>
              <a:off x="0" y="-57150"/>
              <a:ext cx="2331413" cy="2057889"/>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435917" y="194136"/>
            <a:ext cx="8553278" cy="7596554"/>
            <a:chOff x="0" y="0"/>
            <a:chExt cx="2252715" cy="2000739"/>
          </a:xfrm>
        </p:grpSpPr>
        <p:sp>
          <p:nvSpPr>
            <p:cNvPr id="9" name="Freeform 9"/>
            <p:cNvSpPr/>
            <p:nvPr/>
          </p:nvSpPr>
          <p:spPr>
            <a:xfrm>
              <a:off x="0" y="0"/>
              <a:ext cx="2252715" cy="2000739"/>
            </a:xfrm>
            <a:custGeom>
              <a:avLst/>
              <a:gdLst/>
              <a:ahLst/>
              <a:cxnLst/>
              <a:rect l="l" t="t" r="r" b="b"/>
              <a:pathLst>
                <a:path w="2252715" h="2000739">
                  <a:moveTo>
                    <a:pt x="18103" y="0"/>
                  </a:moveTo>
                  <a:lnTo>
                    <a:pt x="2234612" y="0"/>
                  </a:lnTo>
                  <a:cubicBezTo>
                    <a:pt x="2244610" y="0"/>
                    <a:pt x="2252715" y="8105"/>
                    <a:pt x="2252715" y="18103"/>
                  </a:cubicBezTo>
                  <a:lnTo>
                    <a:pt x="2252715" y="1982636"/>
                  </a:lnTo>
                  <a:cubicBezTo>
                    <a:pt x="2252715" y="1992634"/>
                    <a:pt x="2244610" y="2000739"/>
                    <a:pt x="2234612" y="2000739"/>
                  </a:cubicBezTo>
                  <a:lnTo>
                    <a:pt x="18103" y="2000739"/>
                  </a:lnTo>
                  <a:cubicBezTo>
                    <a:pt x="8105" y="2000739"/>
                    <a:pt x="0" y="1992634"/>
                    <a:pt x="0" y="1982636"/>
                  </a:cubicBezTo>
                  <a:lnTo>
                    <a:pt x="0" y="18103"/>
                  </a:lnTo>
                  <a:cubicBezTo>
                    <a:pt x="0" y="8105"/>
                    <a:pt x="8105" y="0"/>
                    <a:pt x="18103" y="0"/>
                  </a:cubicBezTo>
                  <a:close/>
                </a:path>
              </a:pathLst>
            </a:custGeom>
            <a:solidFill>
              <a:srgbClr val="04001E"/>
            </a:solidFill>
            <a:ln w="38100" cap="sq">
              <a:solidFill>
                <a:srgbClr val="E5E1DA"/>
              </a:solidFill>
              <a:prstDash val="solid"/>
              <a:miter/>
            </a:ln>
          </p:spPr>
        </p:sp>
        <p:sp>
          <p:nvSpPr>
            <p:cNvPr id="10" name="TextBox 10"/>
            <p:cNvSpPr txBox="1"/>
            <p:nvPr/>
          </p:nvSpPr>
          <p:spPr>
            <a:xfrm>
              <a:off x="0" y="-57150"/>
              <a:ext cx="2252715" cy="2057889"/>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74121" y="423228"/>
            <a:ext cx="6287674" cy="5147328"/>
          </a:xfrm>
          <a:custGeom>
            <a:avLst/>
            <a:gdLst/>
            <a:ahLst/>
            <a:cxnLst/>
            <a:rect l="l" t="t" r="r" b="b"/>
            <a:pathLst>
              <a:path w="6287674" h="5147328">
                <a:moveTo>
                  <a:pt x="0" y="0"/>
                </a:moveTo>
                <a:lnTo>
                  <a:pt x="6287674" y="0"/>
                </a:lnTo>
                <a:lnTo>
                  <a:pt x="6287674" y="5147327"/>
                </a:lnTo>
                <a:lnTo>
                  <a:pt x="0" y="5147327"/>
                </a:lnTo>
                <a:lnTo>
                  <a:pt x="0" y="0"/>
                </a:lnTo>
                <a:close/>
              </a:path>
            </a:pathLst>
          </a:custGeom>
          <a:blipFill>
            <a:blip r:embed="rId4"/>
            <a:stretch>
              <a:fillRect t="-416" b="-416"/>
            </a:stretch>
          </a:blipFill>
        </p:spPr>
      </p:sp>
      <p:sp>
        <p:nvSpPr>
          <p:cNvPr id="12" name="Freeform 12"/>
          <p:cNvSpPr/>
          <p:nvPr/>
        </p:nvSpPr>
        <p:spPr>
          <a:xfrm>
            <a:off x="10406528" y="600209"/>
            <a:ext cx="6611141" cy="4381466"/>
          </a:xfrm>
          <a:custGeom>
            <a:avLst/>
            <a:gdLst/>
            <a:ahLst/>
            <a:cxnLst/>
            <a:rect l="l" t="t" r="r" b="b"/>
            <a:pathLst>
              <a:path w="6611141" h="4381466">
                <a:moveTo>
                  <a:pt x="0" y="0"/>
                </a:moveTo>
                <a:lnTo>
                  <a:pt x="6611141" y="0"/>
                </a:lnTo>
                <a:lnTo>
                  <a:pt x="6611141" y="4381466"/>
                </a:lnTo>
                <a:lnTo>
                  <a:pt x="0" y="4381466"/>
                </a:lnTo>
                <a:lnTo>
                  <a:pt x="0" y="0"/>
                </a:lnTo>
                <a:close/>
              </a:path>
            </a:pathLst>
          </a:custGeom>
          <a:blipFill>
            <a:blip r:embed="rId5"/>
            <a:stretch>
              <a:fillRect t="-864" r="-763" b="-864"/>
            </a:stretch>
          </a:blipFill>
        </p:spPr>
      </p:sp>
      <p:sp>
        <p:nvSpPr>
          <p:cNvPr id="13" name="TextBox 13"/>
          <p:cNvSpPr txBox="1"/>
          <p:nvPr/>
        </p:nvSpPr>
        <p:spPr>
          <a:xfrm>
            <a:off x="10406528" y="5743818"/>
            <a:ext cx="7042728" cy="1973211"/>
          </a:xfrm>
          <a:prstGeom prst="rect">
            <a:avLst/>
          </a:prstGeom>
        </p:spPr>
        <p:txBody>
          <a:bodyPr lIns="0" tIns="0" rIns="0" bIns="0" rtlCol="0" anchor="t">
            <a:spAutoFit/>
          </a:bodyPr>
          <a:lstStyle/>
          <a:p>
            <a:pPr marL="487983" lvl="1" indent="-243991" algn="l">
              <a:lnSpc>
                <a:spcPts val="3164"/>
              </a:lnSpc>
              <a:buFont typeface="Arial"/>
              <a:buChar char="•"/>
            </a:pPr>
            <a:r>
              <a:rPr lang="en-US" sz="2260">
                <a:solidFill>
                  <a:srgbClr val="FFFFFF"/>
                </a:solidFill>
                <a:latin typeface="Times New Roman"/>
                <a:ea typeface="Times New Roman"/>
                <a:cs typeface="Times New Roman"/>
                <a:sym typeface="Times New Roman"/>
              </a:rPr>
              <a:t>Non-delayed flights are still correctly predicted</a:t>
            </a:r>
          </a:p>
          <a:p>
            <a:pPr marL="487983" lvl="1" indent="-243991" algn="l">
              <a:lnSpc>
                <a:spcPts val="3164"/>
              </a:lnSpc>
              <a:buFont typeface="Arial"/>
              <a:buChar char="•"/>
            </a:pPr>
            <a:r>
              <a:rPr lang="en-US" sz="2260">
                <a:solidFill>
                  <a:srgbClr val="FFFFFF"/>
                </a:solidFill>
                <a:latin typeface="Times New Roman"/>
                <a:ea typeface="Times New Roman"/>
                <a:cs typeface="Times New Roman"/>
                <a:sym typeface="Times New Roman"/>
              </a:rPr>
              <a:t>More delayed flights are correctly identified</a:t>
            </a:r>
          </a:p>
          <a:p>
            <a:pPr marL="487983" lvl="1" indent="-243991" algn="l">
              <a:lnSpc>
                <a:spcPts val="3164"/>
              </a:lnSpc>
              <a:buFont typeface="Arial"/>
              <a:buChar char="•"/>
            </a:pPr>
            <a:r>
              <a:rPr lang="en-US" sz="2260">
                <a:solidFill>
                  <a:srgbClr val="FFFFFF"/>
                </a:solidFill>
                <a:latin typeface="Times New Roman"/>
                <a:ea typeface="Times New Roman"/>
                <a:cs typeface="Times New Roman"/>
                <a:sym typeface="Times New Roman"/>
              </a:rPr>
              <a:t>Performance improved due to XGBoost’s ability to reduce bias through sequential learning and regularisation.</a:t>
            </a:r>
          </a:p>
        </p:txBody>
      </p:sp>
      <p:sp>
        <p:nvSpPr>
          <p:cNvPr id="14" name="TextBox 14"/>
          <p:cNvSpPr txBox="1"/>
          <p:nvPr/>
        </p:nvSpPr>
        <p:spPr>
          <a:xfrm>
            <a:off x="394404" y="5743818"/>
            <a:ext cx="8647108" cy="1308100"/>
          </a:xfrm>
          <a:prstGeom prst="rect">
            <a:avLst/>
          </a:prstGeom>
        </p:spPr>
        <p:txBody>
          <a:bodyPr lIns="0" tIns="0" rIns="0" bIns="0" rtlCol="0" anchor="t">
            <a:spAutoFit/>
          </a:bodyPr>
          <a:lstStyle/>
          <a:p>
            <a:pPr marL="539746" lvl="1" indent="-269873" algn="l">
              <a:lnSpc>
                <a:spcPts val="3499"/>
              </a:lnSpc>
              <a:buFont typeface="Arial"/>
              <a:buChar char="•"/>
            </a:pPr>
            <a:r>
              <a:rPr lang="en-US" sz="2499">
                <a:solidFill>
                  <a:srgbClr val="FFFFFF"/>
                </a:solidFill>
                <a:latin typeface="Times New Roman"/>
                <a:ea typeface="Times New Roman"/>
                <a:cs typeface="Times New Roman"/>
                <a:sym typeface="Times New Roman"/>
              </a:rPr>
              <a:t>Most non-delayed flights (0) are predicted correctly</a:t>
            </a:r>
          </a:p>
          <a:p>
            <a:pPr marL="539746" lvl="1" indent="-269873" algn="l">
              <a:lnSpc>
                <a:spcPts val="3499"/>
              </a:lnSpc>
              <a:buFont typeface="Arial"/>
              <a:buChar char="•"/>
            </a:pPr>
            <a:r>
              <a:rPr lang="en-US" sz="2499">
                <a:solidFill>
                  <a:srgbClr val="FFFFFF"/>
                </a:solidFill>
                <a:latin typeface="Times New Roman"/>
                <a:ea typeface="Times New Roman"/>
                <a:cs typeface="Times New Roman"/>
                <a:sym typeface="Times New Roman"/>
              </a:rPr>
              <a:t>Many delayed flights (1) are wrongly predicted as non-delay</a:t>
            </a:r>
          </a:p>
          <a:p>
            <a:pPr marL="539746" lvl="1" indent="-269873" algn="l">
              <a:lnSpc>
                <a:spcPts val="3499"/>
              </a:lnSpc>
              <a:buFont typeface="Arial"/>
              <a:buChar char="•"/>
            </a:pPr>
            <a:r>
              <a:rPr lang="en-US" sz="2499">
                <a:solidFill>
                  <a:srgbClr val="FFFFFF"/>
                </a:solidFill>
                <a:latin typeface="Times New Roman"/>
                <a:ea typeface="Times New Roman"/>
                <a:cs typeface="Times New Roman"/>
                <a:sym typeface="Times New Roman"/>
              </a:rPr>
              <a:t>Overall, the model is less accurate for delay prediction</a:t>
            </a:r>
          </a:p>
        </p:txBody>
      </p:sp>
      <p:sp>
        <p:nvSpPr>
          <p:cNvPr id="15" name="TextBox 15"/>
          <p:cNvSpPr txBox="1"/>
          <p:nvPr/>
        </p:nvSpPr>
        <p:spPr>
          <a:xfrm>
            <a:off x="583834" y="8752748"/>
            <a:ext cx="17704166" cy="6756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The model is not perfect—it makes both correct and incorrect predictions. Initially, it misclassified many delayed flights, but after tuning, it significantly improved delay detection while increasing false alarms.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794823" y="1786862"/>
            <a:ext cx="7408720" cy="5876246"/>
          </a:xfrm>
          <a:custGeom>
            <a:avLst/>
            <a:gdLst/>
            <a:ahLst/>
            <a:cxnLst/>
            <a:rect l="l" t="t" r="r" b="b"/>
            <a:pathLst>
              <a:path w="7408720" h="5876246">
                <a:moveTo>
                  <a:pt x="0" y="0"/>
                </a:moveTo>
                <a:lnTo>
                  <a:pt x="7408719" y="0"/>
                </a:lnTo>
                <a:lnTo>
                  <a:pt x="7408719" y="5876246"/>
                </a:lnTo>
                <a:lnTo>
                  <a:pt x="0" y="5876246"/>
                </a:lnTo>
                <a:lnTo>
                  <a:pt x="0" y="0"/>
                </a:lnTo>
                <a:close/>
              </a:path>
            </a:pathLst>
          </a:custGeom>
          <a:blipFill>
            <a:blip r:embed="rId4"/>
            <a:stretch>
              <a:fillRect/>
            </a:stretch>
          </a:blipFill>
        </p:spPr>
      </p:sp>
      <p:sp>
        <p:nvSpPr>
          <p:cNvPr id="5" name="Freeform 5"/>
          <p:cNvSpPr/>
          <p:nvPr/>
        </p:nvSpPr>
        <p:spPr>
          <a:xfrm>
            <a:off x="10289969" y="1748177"/>
            <a:ext cx="7408720" cy="5876246"/>
          </a:xfrm>
          <a:custGeom>
            <a:avLst/>
            <a:gdLst/>
            <a:ahLst/>
            <a:cxnLst/>
            <a:rect l="l" t="t" r="r" b="b"/>
            <a:pathLst>
              <a:path w="7408720" h="5876246">
                <a:moveTo>
                  <a:pt x="0" y="0"/>
                </a:moveTo>
                <a:lnTo>
                  <a:pt x="7408720" y="0"/>
                </a:lnTo>
                <a:lnTo>
                  <a:pt x="7408720" y="5876246"/>
                </a:lnTo>
                <a:lnTo>
                  <a:pt x="0" y="5876246"/>
                </a:lnTo>
                <a:lnTo>
                  <a:pt x="0" y="0"/>
                </a:lnTo>
                <a:close/>
              </a:path>
            </a:pathLst>
          </a:custGeom>
          <a:blipFill>
            <a:blip r:embed="rId5"/>
            <a:stretch>
              <a:fillRect/>
            </a:stretch>
          </a:blipFill>
        </p:spPr>
      </p:sp>
      <p:sp>
        <p:nvSpPr>
          <p:cNvPr id="6" name="TextBox 6"/>
          <p:cNvSpPr txBox="1"/>
          <p:nvPr/>
        </p:nvSpPr>
        <p:spPr>
          <a:xfrm>
            <a:off x="10298790" y="7851982"/>
            <a:ext cx="6822644" cy="167576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Shows the models after tuning hyperparameters.</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XGBoost performance improved further (higher curve and AUC).</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Other models remain almost the same because they weren’t tuned.</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The dotted line represents a random classifier baseline (AUC = 0.5), so curves above this line are better than random guessing.</a:t>
            </a:r>
          </a:p>
        </p:txBody>
      </p:sp>
      <p:sp>
        <p:nvSpPr>
          <p:cNvPr id="7" name="TextBox 7"/>
          <p:cNvSpPr txBox="1"/>
          <p:nvPr/>
        </p:nvSpPr>
        <p:spPr>
          <a:xfrm>
            <a:off x="680918" y="7915910"/>
            <a:ext cx="8463082" cy="1342390"/>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Shows how well each model predicts flight delays before optimization.</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XGBoost already performs best among all models.</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Logistic Regression has the lowest performance (closest to the dotted random line).</a:t>
            </a:r>
          </a:p>
          <a:p>
            <a:pPr marL="410209" lvl="1" indent="-205105" algn="l">
              <a:lnSpc>
                <a:spcPts val="2659"/>
              </a:lnSpc>
              <a:buFont typeface="Arial"/>
              <a:buChar char="•"/>
            </a:pPr>
            <a:r>
              <a:rPr lang="en-US" sz="1899">
                <a:solidFill>
                  <a:srgbClr val="FFFFFF"/>
                </a:solidFill>
                <a:latin typeface="Times New Roman"/>
                <a:ea typeface="Times New Roman"/>
                <a:cs typeface="Times New Roman"/>
                <a:sym typeface="Times New Roman"/>
              </a:rPr>
              <a:t>Random Forest and Gradient Boosting perform moderately.</a:t>
            </a:r>
          </a:p>
        </p:txBody>
      </p:sp>
      <p:sp>
        <p:nvSpPr>
          <p:cNvPr id="8" name="TextBox 8"/>
          <p:cNvSpPr txBox="1"/>
          <p:nvPr/>
        </p:nvSpPr>
        <p:spPr>
          <a:xfrm>
            <a:off x="5999845" y="9812455"/>
            <a:ext cx="6680002"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ROC shows model performance, and AUC tells us how accurate it is.</a:t>
            </a:r>
          </a:p>
        </p:txBody>
      </p:sp>
      <p:sp>
        <p:nvSpPr>
          <p:cNvPr id="9" name="TextBox 9"/>
          <p:cNvSpPr txBox="1"/>
          <p:nvPr/>
        </p:nvSpPr>
        <p:spPr>
          <a:xfrm>
            <a:off x="942903" y="1186837"/>
            <a:ext cx="16755785" cy="3422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Times New Roman"/>
                <a:ea typeface="Times New Roman"/>
                <a:cs typeface="Times New Roman"/>
                <a:sym typeface="Times New Roman"/>
              </a:rPr>
              <a:t>ROC curves show how well our models predict flight delays. The area under the curve (AUC) tells us the model’s overall accuracy — higher AUC means better predictions."</a:t>
            </a:r>
          </a:p>
        </p:txBody>
      </p:sp>
      <p:sp>
        <p:nvSpPr>
          <p:cNvPr id="10" name="TextBox 10"/>
          <p:cNvSpPr txBox="1"/>
          <p:nvPr/>
        </p:nvSpPr>
        <p:spPr>
          <a:xfrm>
            <a:off x="310967" y="179068"/>
            <a:ext cx="18492574" cy="849632"/>
          </a:xfrm>
          <a:prstGeom prst="rect">
            <a:avLst/>
          </a:prstGeom>
        </p:spPr>
        <p:txBody>
          <a:bodyPr lIns="0" tIns="0" rIns="0" bIns="0" rtlCol="0" anchor="t">
            <a:spAutoFit/>
          </a:bodyPr>
          <a:lstStyle/>
          <a:p>
            <a:pPr algn="ctr">
              <a:lnSpc>
                <a:spcPts val="6719"/>
              </a:lnSpc>
              <a:spcBef>
                <a:spcPct val="0"/>
              </a:spcBef>
            </a:pPr>
            <a:r>
              <a:rPr lang="en-US" sz="4799">
                <a:solidFill>
                  <a:srgbClr val="FFFFFF"/>
                </a:solidFill>
                <a:latin typeface="Times New Roman"/>
                <a:ea typeface="Times New Roman"/>
                <a:cs typeface="Times New Roman"/>
                <a:sym typeface="Times New Roman"/>
              </a:rPr>
              <a:t>Visualizations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1028700" y="1413758"/>
            <a:ext cx="10284037" cy="7980760"/>
            <a:chOff x="0" y="0"/>
            <a:chExt cx="2708553" cy="2101929"/>
          </a:xfrm>
        </p:grpSpPr>
        <p:sp>
          <p:nvSpPr>
            <p:cNvPr id="4" name="Freeform 4"/>
            <p:cNvSpPr/>
            <p:nvPr/>
          </p:nvSpPr>
          <p:spPr>
            <a:xfrm>
              <a:off x="0" y="0"/>
              <a:ext cx="2708553" cy="2101929"/>
            </a:xfrm>
            <a:custGeom>
              <a:avLst/>
              <a:gdLst/>
              <a:ahLst/>
              <a:cxnLst/>
              <a:rect l="l" t="t" r="r" b="b"/>
              <a:pathLst>
                <a:path w="2708553" h="2101929">
                  <a:moveTo>
                    <a:pt x="15056" y="0"/>
                  </a:moveTo>
                  <a:lnTo>
                    <a:pt x="2693497" y="0"/>
                  </a:lnTo>
                  <a:cubicBezTo>
                    <a:pt x="2701812" y="0"/>
                    <a:pt x="2708553" y="6741"/>
                    <a:pt x="2708553" y="15056"/>
                  </a:cubicBezTo>
                  <a:lnTo>
                    <a:pt x="2708553" y="2086872"/>
                  </a:lnTo>
                  <a:cubicBezTo>
                    <a:pt x="2708553" y="2090866"/>
                    <a:pt x="2706967" y="2094695"/>
                    <a:pt x="2704143" y="2097519"/>
                  </a:cubicBezTo>
                  <a:cubicBezTo>
                    <a:pt x="2701320" y="2100342"/>
                    <a:pt x="2697490" y="2101929"/>
                    <a:pt x="2693497" y="2101929"/>
                  </a:cubicBezTo>
                  <a:lnTo>
                    <a:pt x="15056" y="2101929"/>
                  </a:lnTo>
                  <a:cubicBezTo>
                    <a:pt x="6741" y="2101929"/>
                    <a:pt x="0" y="2095188"/>
                    <a:pt x="0" y="2086872"/>
                  </a:cubicBezTo>
                  <a:lnTo>
                    <a:pt x="0" y="15056"/>
                  </a:lnTo>
                  <a:cubicBezTo>
                    <a:pt x="0" y="11063"/>
                    <a:pt x="1586" y="7233"/>
                    <a:pt x="4410" y="4410"/>
                  </a:cubicBezTo>
                  <a:cubicBezTo>
                    <a:pt x="7233" y="1586"/>
                    <a:pt x="11063" y="0"/>
                    <a:pt x="15056" y="0"/>
                  </a:cubicBezTo>
                  <a:close/>
                </a:path>
              </a:pathLst>
            </a:custGeom>
            <a:solidFill>
              <a:srgbClr val="04001E"/>
            </a:solidFill>
            <a:ln w="38100" cap="sq">
              <a:solidFill>
                <a:srgbClr val="E5E1DA"/>
              </a:solidFill>
              <a:prstDash val="solid"/>
              <a:miter/>
            </a:ln>
          </p:spPr>
        </p:sp>
        <p:sp>
          <p:nvSpPr>
            <p:cNvPr id="5" name="TextBox 5"/>
            <p:cNvSpPr txBox="1"/>
            <p:nvPr/>
          </p:nvSpPr>
          <p:spPr>
            <a:xfrm>
              <a:off x="0" y="-57150"/>
              <a:ext cx="2708553" cy="2159079"/>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1542318" flipV="1">
            <a:off x="11968542" y="-1035611"/>
            <a:ext cx="7674102" cy="8229600"/>
          </a:xfrm>
          <a:custGeom>
            <a:avLst/>
            <a:gdLst/>
            <a:ahLst/>
            <a:cxnLst/>
            <a:rect l="l" t="t" r="r" b="b"/>
            <a:pathLst>
              <a:path w="7674102" h="8229600">
                <a:moveTo>
                  <a:pt x="0" y="8229600"/>
                </a:moveTo>
                <a:lnTo>
                  <a:pt x="7674102" y="8229600"/>
                </a:lnTo>
                <a:lnTo>
                  <a:pt x="7674102" y="0"/>
                </a:lnTo>
                <a:lnTo>
                  <a:pt x="0" y="0"/>
                </a:lnTo>
                <a:lnTo>
                  <a:pt x="0" y="8229600"/>
                </a:lnTo>
                <a:close/>
              </a:path>
            </a:pathLst>
          </a:custGeom>
          <a:blipFill>
            <a:blip r:embed="rId4"/>
            <a:stretch>
              <a:fillRect/>
            </a:stretch>
          </a:blipFill>
        </p:spPr>
      </p:sp>
      <p:sp>
        <p:nvSpPr>
          <p:cNvPr id="8" name="TextBox 8"/>
          <p:cNvSpPr txBox="1"/>
          <p:nvPr/>
        </p:nvSpPr>
        <p:spPr>
          <a:xfrm>
            <a:off x="1700119" y="2061759"/>
            <a:ext cx="8941199" cy="5987435"/>
          </a:xfrm>
          <a:prstGeom prst="rect">
            <a:avLst/>
          </a:prstGeom>
        </p:spPr>
        <p:txBody>
          <a:bodyPr lIns="0" tIns="0" rIns="0" bIns="0" rtlCol="0" anchor="t">
            <a:spAutoFit/>
          </a:bodyPr>
          <a:lstStyle/>
          <a:p>
            <a:pPr algn="ctr">
              <a:lnSpc>
                <a:spcPts val="2833"/>
              </a:lnSpc>
              <a:spcBef>
                <a:spcPct val="0"/>
              </a:spcBef>
            </a:pPr>
            <a:r>
              <a:rPr lang="en-US" sz="2024">
                <a:solidFill>
                  <a:srgbClr val="FFFFFF"/>
                </a:solidFill>
                <a:latin typeface="Times New Roman"/>
                <a:ea typeface="Times New Roman"/>
                <a:cs typeface="Times New Roman"/>
                <a:sym typeface="Times New Roman"/>
              </a:rPr>
              <a:t>The models were evaluated to identify strengths, weaknesses, and opportunities for improvement. XGBoost performed best, but careful analysis shows areas for further improvement.</a:t>
            </a:r>
          </a:p>
          <a:p>
            <a:pPr algn="ctr">
              <a:lnSpc>
                <a:spcPts val="2833"/>
              </a:lnSpc>
              <a:spcBef>
                <a:spcPct val="0"/>
              </a:spcBef>
            </a:pPr>
            <a:endParaRPr lang="en-US" sz="2024">
              <a:solidFill>
                <a:srgbClr val="FFFFFF"/>
              </a:solidFill>
              <a:latin typeface="Times New Roman"/>
              <a:ea typeface="Times New Roman"/>
              <a:cs typeface="Times New Roman"/>
              <a:sym typeface="Times New Roman"/>
            </a:endParaRPr>
          </a:p>
          <a:p>
            <a:pPr marL="437031" lvl="1" indent="-218515" algn="l">
              <a:lnSpc>
                <a:spcPts val="2833"/>
              </a:lnSpc>
              <a:buFont typeface="Arial"/>
              <a:buChar char="•"/>
            </a:pPr>
            <a:r>
              <a:rPr lang="en-US" sz="2024">
                <a:solidFill>
                  <a:srgbClr val="FFFFFF"/>
                </a:solidFill>
                <a:latin typeface="Times New Roman"/>
                <a:ea typeface="Times New Roman"/>
                <a:cs typeface="Times New Roman"/>
                <a:sym typeface="Times New Roman"/>
              </a:rPr>
              <a:t>Accuracy vs ROC-AUC: Ensemble models provide better performance than Logistic Regression.</a:t>
            </a:r>
          </a:p>
          <a:p>
            <a:pPr algn="l">
              <a:lnSpc>
                <a:spcPts val="2833"/>
              </a:lnSpc>
            </a:pPr>
            <a:endParaRPr lang="en-US" sz="2024">
              <a:solidFill>
                <a:srgbClr val="FFFFFF"/>
              </a:solidFill>
              <a:latin typeface="Times New Roman"/>
              <a:ea typeface="Times New Roman"/>
              <a:cs typeface="Times New Roman"/>
              <a:sym typeface="Times New Roman"/>
            </a:endParaRPr>
          </a:p>
          <a:p>
            <a:pPr marL="437031" lvl="1" indent="-218515" algn="l">
              <a:lnSpc>
                <a:spcPts val="2833"/>
              </a:lnSpc>
              <a:buFont typeface="Arial"/>
              <a:buChar char="•"/>
            </a:pPr>
            <a:r>
              <a:rPr lang="en-US" sz="2024">
                <a:solidFill>
                  <a:srgbClr val="FFFFFF"/>
                </a:solidFill>
                <a:latin typeface="Times New Roman"/>
                <a:ea typeface="Times New Roman"/>
                <a:cs typeface="Times New Roman"/>
                <a:sym typeface="Times New Roman"/>
              </a:rPr>
              <a:t>Confusion Matrix: Most delays are correctly predicted; some false positives/negatives remain.</a:t>
            </a:r>
          </a:p>
          <a:p>
            <a:pPr algn="l">
              <a:lnSpc>
                <a:spcPts val="2833"/>
              </a:lnSpc>
            </a:pPr>
            <a:endParaRPr lang="en-US" sz="2024">
              <a:solidFill>
                <a:srgbClr val="FFFFFF"/>
              </a:solidFill>
              <a:latin typeface="Times New Roman"/>
              <a:ea typeface="Times New Roman"/>
              <a:cs typeface="Times New Roman"/>
              <a:sym typeface="Times New Roman"/>
            </a:endParaRPr>
          </a:p>
          <a:p>
            <a:pPr marL="437031" lvl="1" indent="-218515" algn="l">
              <a:lnSpc>
                <a:spcPts val="2833"/>
              </a:lnSpc>
              <a:buFont typeface="Arial"/>
              <a:buChar char="•"/>
            </a:pPr>
            <a:r>
              <a:rPr lang="en-US" sz="2024">
                <a:solidFill>
                  <a:srgbClr val="FFFFFF"/>
                </a:solidFill>
                <a:latin typeface="Times New Roman"/>
                <a:ea typeface="Times New Roman"/>
                <a:cs typeface="Times New Roman"/>
                <a:sym typeface="Times New Roman"/>
              </a:rPr>
              <a:t>Comparison with Literature: Results align with previous research that ensemble methods improve prediction accuracy.</a:t>
            </a:r>
          </a:p>
          <a:p>
            <a:pPr algn="l">
              <a:lnSpc>
                <a:spcPts val="2833"/>
              </a:lnSpc>
            </a:pPr>
            <a:endParaRPr lang="en-US" sz="2024">
              <a:solidFill>
                <a:srgbClr val="FFFFFF"/>
              </a:solidFill>
              <a:latin typeface="Times New Roman"/>
              <a:ea typeface="Times New Roman"/>
              <a:cs typeface="Times New Roman"/>
              <a:sym typeface="Times New Roman"/>
            </a:endParaRPr>
          </a:p>
          <a:p>
            <a:pPr marL="437031" lvl="1" indent="-218515" algn="l">
              <a:lnSpc>
                <a:spcPts val="2833"/>
              </a:lnSpc>
              <a:buFont typeface="Arial"/>
              <a:buChar char="•"/>
            </a:pPr>
            <a:r>
              <a:rPr lang="en-US" sz="2024">
                <a:solidFill>
                  <a:srgbClr val="FFFFFF"/>
                </a:solidFill>
                <a:latin typeface="Times New Roman"/>
                <a:ea typeface="Times New Roman"/>
                <a:cs typeface="Times New Roman"/>
                <a:sym typeface="Times New Roman"/>
              </a:rPr>
              <a:t>Limitations:</a:t>
            </a:r>
          </a:p>
          <a:p>
            <a:pPr marL="437031" lvl="1" indent="-218515" algn="l">
              <a:lnSpc>
                <a:spcPts val="2833"/>
              </a:lnSpc>
              <a:buAutoNum type="arabicPeriod"/>
            </a:pPr>
            <a:r>
              <a:rPr lang="en-US" sz="2024">
                <a:solidFill>
                  <a:srgbClr val="FFFFFF"/>
                </a:solidFill>
                <a:latin typeface="Times New Roman"/>
                <a:ea typeface="Times New Roman"/>
                <a:cs typeface="Times New Roman"/>
                <a:sym typeface="Times New Roman"/>
              </a:rPr>
              <a:t>Dataset limited to U.S. flights</a:t>
            </a:r>
          </a:p>
          <a:p>
            <a:pPr marL="437031" lvl="1" indent="-218515" algn="l">
              <a:lnSpc>
                <a:spcPts val="2833"/>
              </a:lnSpc>
              <a:buAutoNum type="arabicPeriod"/>
            </a:pPr>
            <a:r>
              <a:rPr lang="en-US" sz="2024">
                <a:solidFill>
                  <a:srgbClr val="FFFFFF"/>
                </a:solidFill>
                <a:latin typeface="Times New Roman"/>
                <a:ea typeface="Times New Roman"/>
                <a:cs typeface="Times New Roman"/>
                <a:sym typeface="Times New Roman"/>
              </a:rPr>
              <a:t>No weather or external factors included</a:t>
            </a:r>
          </a:p>
          <a:p>
            <a:pPr marL="437031" lvl="1" indent="-218515" algn="l">
              <a:lnSpc>
                <a:spcPts val="2833"/>
              </a:lnSpc>
              <a:buAutoNum type="arabicPeriod"/>
            </a:pPr>
            <a:r>
              <a:rPr lang="en-US" sz="2024">
                <a:solidFill>
                  <a:srgbClr val="FFFFFF"/>
                </a:solidFill>
                <a:latin typeface="Times New Roman"/>
                <a:ea typeface="Times New Roman"/>
                <a:cs typeface="Times New Roman"/>
                <a:sym typeface="Times New Roman"/>
              </a:rPr>
              <a:t>Further feature engineering could improve predictions</a:t>
            </a:r>
          </a:p>
        </p:txBody>
      </p:sp>
      <p:sp>
        <p:nvSpPr>
          <p:cNvPr id="9" name="TextBox 9"/>
          <p:cNvSpPr txBox="1"/>
          <p:nvPr/>
        </p:nvSpPr>
        <p:spPr>
          <a:xfrm>
            <a:off x="1028700" y="295365"/>
            <a:ext cx="8941199" cy="681918"/>
          </a:xfrm>
          <a:prstGeom prst="rect">
            <a:avLst/>
          </a:prstGeom>
        </p:spPr>
        <p:txBody>
          <a:bodyPr wrap="square" lIns="0" tIns="0" rIns="0" bIns="0" rtlCol="0" anchor="t">
            <a:spAutoFit/>
          </a:bodyPr>
          <a:lstStyle/>
          <a:p>
            <a:pPr algn="ctr">
              <a:lnSpc>
                <a:spcPts val="5779"/>
              </a:lnSpc>
              <a:spcBef>
                <a:spcPct val="0"/>
              </a:spcBef>
            </a:pPr>
            <a:r>
              <a:rPr lang="en-US" sz="4128" dirty="0">
                <a:solidFill>
                  <a:srgbClr val="FFFFFF"/>
                </a:solidFill>
                <a:latin typeface="Times New Roman"/>
                <a:ea typeface="Times New Roman"/>
                <a:cs typeface="Times New Roman"/>
                <a:sym typeface="Times New Roman"/>
              </a:rPr>
              <a:t>Critical Analysis of Model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2252885"/>
            <a:ext cx="13851811" cy="11055511"/>
            <a:chOff x="0" y="0"/>
            <a:chExt cx="18469082" cy="14740682"/>
          </a:xfrm>
        </p:grpSpPr>
        <p:grpSp>
          <p:nvGrpSpPr>
            <p:cNvPr id="5" name="Group 5"/>
            <p:cNvGrpSpPr/>
            <p:nvPr/>
          </p:nvGrpSpPr>
          <p:grpSpPr>
            <a:xfrm>
              <a:off x="0" y="0"/>
              <a:ext cx="18469082" cy="14740682"/>
              <a:chOff x="0" y="0"/>
              <a:chExt cx="3648214" cy="2911740"/>
            </a:xfrm>
          </p:grpSpPr>
          <p:sp>
            <p:nvSpPr>
              <p:cNvPr id="6" name="Freeform 6"/>
              <p:cNvSpPr/>
              <p:nvPr/>
            </p:nvSpPr>
            <p:spPr>
              <a:xfrm>
                <a:off x="0" y="0"/>
                <a:ext cx="3648214" cy="2911740"/>
              </a:xfrm>
              <a:custGeom>
                <a:avLst/>
                <a:gdLst/>
                <a:ahLst/>
                <a:cxnLst/>
                <a:rect l="l" t="t" r="r" b="b"/>
                <a:pathLst>
                  <a:path w="3648214" h="2911740">
                    <a:moveTo>
                      <a:pt x="11178" y="0"/>
                    </a:moveTo>
                    <a:lnTo>
                      <a:pt x="3637035" y="0"/>
                    </a:lnTo>
                    <a:cubicBezTo>
                      <a:pt x="3643209" y="0"/>
                      <a:pt x="3648214" y="5005"/>
                      <a:pt x="3648214" y="11178"/>
                    </a:cubicBezTo>
                    <a:lnTo>
                      <a:pt x="3648214" y="2900562"/>
                    </a:lnTo>
                    <a:cubicBezTo>
                      <a:pt x="3648214" y="2906735"/>
                      <a:pt x="3643209" y="2911740"/>
                      <a:pt x="3637035" y="2911740"/>
                    </a:cubicBezTo>
                    <a:lnTo>
                      <a:pt x="11178" y="2911740"/>
                    </a:lnTo>
                    <a:cubicBezTo>
                      <a:pt x="5005" y="2911740"/>
                      <a:pt x="0" y="2906735"/>
                      <a:pt x="0" y="2900562"/>
                    </a:cubicBezTo>
                    <a:lnTo>
                      <a:pt x="0" y="11178"/>
                    </a:lnTo>
                    <a:cubicBezTo>
                      <a:pt x="0" y="5005"/>
                      <a:pt x="5005" y="0"/>
                      <a:pt x="11178"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3648214" cy="294984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282925" y="1102985"/>
              <a:ext cx="14095560" cy="1671320"/>
            </a:xfrm>
            <a:prstGeom prst="rect">
              <a:avLst/>
            </a:prstGeom>
          </p:spPr>
          <p:txBody>
            <a:bodyPr lIns="0" tIns="0" rIns="0" bIns="0" rtlCol="0" anchor="t">
              <a:spAutoFit/>
            </a:bodyPr>
            <a:lstStyle/>
            <a:p>
              <a:pPr algn="l">
                <a:lnSpc>
                  <a:spcPts val="8730"/>
                </a:lnSpc>
              </a:pPr>
              <a:r>
                <a:rPr lang="en-US" sz="9000">
                  <a:solidFill>
                    <a:srgbClr val="F4F4ED"/>
                  </a:solidFill>
                  <a:latin typeface="Times New Roman"/>
                  <a:ea typeface="Times New Roman"/>
                  <a:cs typeface="Times New Roman"/>
                  <a:sym typeface="Times New Roman"/>
                </a:rPr>
                <a:t>Conclusion</a:t>
              </a:r>
            </a:p>
          </p:txBody>
        </p:sp>
        <p:sp>
          <p:nvSpPr>
            <p:cNvPr id="9" name="TextBox 9"/>
            <p:cNvSpPr txBox="1"/>
            <p:nvPr/>
          </p:nvSpPr>
          <p:spPr>
            <a:xfrm>
              <a:off x="1282925" y="3013838"/>
              <a:ext cx="17186157" cy="5015414"/>
            </a:xfrm>
            <a:prstGeom prst="rect">
              <a:avLst/>
            </a:prstGeom>
          </p:spPr>
          <p:txBody>
            <a:bodyPr lIns="0" tIns="0" rIns="0" bIns="0" rtlCol="0" anchor="t">
              <a:spAutoFit/>
            </a:bodyPr>
            <a:lstStyle/>
            <a:p>
              <a:pPr marL="0" lvl="0" indent="0" algn="just">
                <a:lnSpc>
                  <a:spcPts val="2757"/>
                </a:lnSpc>
                <a:spcBef>
                  <a:spcPct val="0"/>
                </a:spcBef>
              </a:pPr>
              <a:r>
                <a:rPr lang="en-US" sz="2042" spc="122">
                  <a:solidFill>
                    <a:srgbClr val="FFFFFF"/>
                  </a:solidFill>
                  <a:latin typeface="Times New Roman"/>
                  <a:ea typeface="Times New Roman"/>
                  <a:cs typeface="Times New Roman"/>
                  <a:sym typeface="Times New Roman"/>
                </a:rPr>
                <a:t>Th</a:t>
              </a:r>
              <a:r>
                <a:rPr lang="en-US" sz="2042" u="none" spc="122">
                  <a:solidFill>
                    <a:srgbClr val="FFFFFF"/>
                  </a:solidFill>
                  <a:latin typeface="Times New Roman"/>
                  <a:ea typeface="Times New Roman"/>
                  <a:cs typeface="Times New Roman"/>
                  <a:sym typeface="Times New Roman"/>
                </a:rPr>
                <a:t>e project demonstrates that machine learning can predict flight delays effectively. </a:t>
              </a:r>
            </a:p>
            <a:p>
              <a:pPr marL="0" lvl="0" indent="0" algn="just">
                <a:lnSpc>
                  <a:spcPts val="2757"/>
                </a:lnSpc>
                <a:spcBef>
                  <a:spcPct val="0"/>
                </a:spcBef>
              </a:pPr>
              <a:r>
                <a:rPr lang="en-US" sz="2042" u="none" spc="122">
                  <a:solidFill>
                    <a:srgbClr val="FFFFFF"/>
                  </a:solidFill>
                  <a:latin typeface="Times New Roman"/>
                  <a:ea typeface="Times New Roman"/>
                  <a:cs typeface="Times New Roman"/>
                  <a:sym typeface="Times New Roman"/>
                </a:rPr>
                <a:t>XGBoost is the best-performing model, showing high accuracy and ROC-AUC.</a:t>
              </a:r>
            </a:p>
            <a:p>
              <a:pPr marL="441029" lvl="1" indent="-220514" algn="just">
                <a:lnSpc>
                  <a:spcPts val="2757"/>
                </a:lnSpc>
                <a:buFont typeface="Arial"/>
                <a:buChar char="•"/>
              </a:pPr>
              <a:r>
                <a:rPr lang="en-US" sz="2042" u="none" spc="122">
                  <a:solidFill>
                    <a:srgbClr val="FFFFFF"/>
                  </a:solidFill>
                  <a:latin typeface="Times New Roman"/>
                  <a:ea typeface="Times New Roman"/>
                  <a:cs typeface="Times New Roman"/>
                  <a:sym typeface="Times New Roman"/>
                </a:rPr>
                <a:t>Ensemble models improve delay prediction over traditional methods.</a:t>
              </a:r>
            </a:p>
            <a:p>
              <a:pPr marL="441029" lvl="1" indent="-220514" algn="just">
                <a:lnSpc>
                  <a:spcPts val="2757"/>
                </a:lnSpc>
                <a:buFont typeface="Arial"/>
                <a:buChar char="•"/>
              </a:pPr>
              <a:r>
                <a:rPr lang="en-US" sz="2042" u="none" spc="122">
                  <a:solidFill>
                    <a:srgbClr val="FFFFFF"/>
                  </a:solidFill>
                  <a:latin typeface="Times New Roman"/>
                  <a:ea typeface="Times New Roman"/>
                  <a:cs typeface="Times New Roman"/>
                  <a:sym typeface="Times New Roman"/>
                </a:rPr>
                <a:t>XGBoost provides the most accurate predictions among the models tested.</a:t>
              </a:r>
            </a:p>
            <a:p>
              <a:pPr algn="just">
                <a:lnSpc>
                  <a:spcPts val="2757"/>
                </a:lnSpc>
              </a:pPr>
              <a:endParaRPr lang="en-US" sz="2042" u="none" spc="122">
                <a:solidFill>
                  <a:srgbClr val="FFFFFF"/>
                </a:solidFill>
                <a:latin typeface="Times New Roman"/>
                <a:ea typeface="Times New Roman"/>
                <a:cs typeface="Times New Roman"/>
                <a:sym typeface="Times New Roman"/>
              </a:endParaRPr>
            </a:p>
            <a:p>
              <a:pPr algn="just">
                <a:lnSpc>
                  <a:spcPts val="2757"/>
                </a:lnSpc>
              </a:pPr>
              <a:endParaRPr lang="en-US" sz="2042" u="none" spc="122">
                <a:solidFill>
                  <a:srgbClr val="FFFFFF"/>
                </a:solidFill>
                <a:latin typeface="Times New Roman"/>
                <a:ea typeface="Times New Roman"/>
                <a:cs typeface="Times New Roman"/>
                <a:sym typeface="Times New Roman"/>
              </a:endParaRPr>
            </a:p>
            <a:p>
              <a:pPr marL="0" lvl="0" indent="0" algn="just">
                <a:lnSpc>
                  <a:spcPts val="2757"/>
                </a:lnSpc>
                <a:spcBef>
                  <a:spcPct val="0"/>
                </a:spcBef>
              </a:pPr>
              <a:r>
                <a:rPr lang="en-US" sz="2042" u="none" spc="122">
                  <a:solidFill>
                    <a:srgbClr val="FFFFFF"/>
                  </a:solidFill>
                  <a:latin typeface="Times New Roman"/>
                  <a:ea typeface="Times New Roman"/>
                  <a:cs typeface="Times New Roman"/>
                  <a:sym typeface="Times New Roman"/>
                </a:rPr>
                <a:t>Future Work:</a:t>
              </a:r>
            </a:p>
            <a:p>
              <a:pPr marL="441029" lvl="1" indent="-220514" algn="just">
                <a:lnSpc>
                  <a:spcPts val="2757"/>
                </a:lnSpc>
                <a:spcBef>
                  <a:spcPct val="0"/>
                </a:spcBef>
                <a:buFont typeface="Arial"/>
                <a:buChar char="•"/>
              </a:pPr>
              <a:r>
                <a:rPr lang="en-US" sz="2042" u="none" spc="122">
                  <a:solidFill>
                    <a:srgbClr val="FFFFFF"/>
                  </a:solidFill>
                  <a:latin typeface="Times New Roman"/>
                  <a:ea typeface="Times New Roman"/>
                  <a:cs typeface="Times New Roman"/>
                  <a:sym typeface="Times New Roman"/>
                </a:rPr>
                <a:t>Include weather and real-time data</a:t>
              </a:r>
            </a:p>
            <a:p>
              <a:pPr marL="441029" lvl="1" indent="-220514" algn="just">
                <a:lnSpc>
                  <a:spcPts val="2757"/>
                </a:lnSpc>
                <a:spcBef>
                  <a:spcPct val="0"/>
                </a:spcBef>
                <a:buFont typeface="Arial"/>
                <a:buChar char="•"/>
              </a:pPr>
              <a:r>
                <a:rPr lang="en-US" sz="2042" u="none" spc="122">
                  <a:solidFill>
                    <a:srgbClr val="FFFFFF"/>
                  </a:solidFill>
                  <a:latin typeface="Times New Roman"/>
                  <a:ea typeface="Times New Roman"/>
                  <a:cs typeface="Times New Roman"/>
                  <a:sym typeface="Times New Roman"/>
                </a:rPr>
                <a:t>Expand to international flights</a:t>
              </a:r>
            </a:p>
            <a:p>
              <a:pPr marL="441029" lvl="1" indent="-220514" algn="just">
                <a:lnSpc>
                  <a:spcPts val="2757"/>
                </a:lnSpc>
                <a:spcBef>
                  <a:spcPct val="0"/>
                </a:spcBef>
                <a:buFont typeface="Arial"/>
                <a:buChar char="•"/>
              </a:pPr>
              <a:r>
                <a:rPr lang="en-US" sz="2042" u="none" spc="122">
                  <a:solidFill>
                    <a:srgbClr val="FFFFFF"/>
                  </a:solidFill>
                  <a:latin typeface="Times New Roman"/>
                  <a:ea typeface="Times New Roman"/>
                  <a:cs typeface="Times New Roman"/>
                  <a:sym typeface="Times New Roman"/>
                </a:rPr>
                <a:t>Deploy a live predictive system</a:t>
              </a:r>
            </a:p>
            <a:p>
              <a:pPr marL="0" lvl="0" indent="0" algn="just">
                <a:lnSpc>
                  <a:spcPts val="2757"/>
                </a:lnSpc>
                <a:spcBef>
                  <a:spcPct val="0"/>
                </a:spcBef>
              </a:pPr>
              <a:endParaRPr lang="en-US" sz="2042" u="none" spc="122">
                <a:solidFill>
                  <a:srgbClr val="FFFFFF"/>
                </a:solidFill>
                <a:latin typeface="Times New Roman"/>
                <a:ea typeface="Times New Roman"/>
                <a:cs typeface="Times New Roman"/>
                <a:sym typeface="Times New Roman"/>
              </a:endParaRPr>
            </a:p>
          </p:txBody>
        </p:sp>
      </p:grpSp>
      <p:sp>
        <p:nvSpPr>
          <p:cNvPr id="10" name="Freeform 10"/>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626729">
            <a:off x="11878550" y="2429250"/>
            <a:ext cx="12221289" cy="8822969"/>
          </a:xfrm>
          <a:custGeom>
            <a:avLst/>
            <a:gdLst/>
            <a:ahLst/>
            <a:cxnLst/>
            <a:rect l="l" t="t" r="r" b="b"/>
            <a:pathLst>
              <a:path w="12221289" h="8822969">
                <a:moveTo>
                  <a:pt x="0" y="0"/>
                </a:moveTo>
                <a:lnTo>
                  <a:pt x="12221289" y="0"/>
                </a:lnTo>
                <a:lnTo>
                  <a:pt x="12221289" y="8822969"/>
                </a:lnTo>
                <a:lnTo>
                  <a:pt x="0" y="8822969"/>
                </a:lnTo>
                <a:lnTo>
                  <a:pt x="0" y="0"/>
                </a:lnTo>
                <a:close/>
              </a:path>
            </a:pathLst>
          </a:custGeom>
          <a:blipFill>
            <a:blip r:embed="rId3"/>
            <a:stretch>
              <a:fillRect/>
            </a:stretch>
          </a:blipFill>
        </p:spPr>
      </p:sp>
      <p:grpSp>
        <p:nvGrpSpPr>
          <p:cNvPr id="4" name="Group 4"/>
          <p:cNvGrpSpPr/>
          <p:nvPr/>
        </p:nvGrpSpPr>
        <p:grpSpPr>
          <a:xfrm>
            <a:off x="1028700" y="2252885"/>
            <a:ext cx="14232763" cy="12255645"/>
            <a:chOff x="0" y="0"/>
            <a:chExt cx="18977018" cy="16340859"/>
          </a:xfrm>
        </p:grpSpPr>
        <p:grpSp>
          <p:nvGrpSpPr>
            <p:cNvPr id="5" name="Group 5"/>
            <p:cNvGrpSpPr/>
            <p:nvPr/>
          </p:nvGrpSpPr>
          <p:grpSpPr>
            <a:xfrm>
              <a:off x="0" y="0"/>
              <a:ext cx="18977018" cy="16340859"/>
              <a:chOff x="0" y="0"/>
              <a:chExt cx="3748547" cy="3227824"/>
            </a:xfrm>
          </p:grpSpPr>
          <p:sp>
            <p:nvSpPr>
              <p:cNvPr id="6" name="Freeform 6"/>
              <p:cNvSpPr/>
              <p:nvPr/>
            </p:nvSpPr>
            <p:spPr>
              <a:xfrm>
                <a:off x="0" y="0"/>
                <a:ext cx="3748547" cy="3227824"/>
              </a:xfrm>
              <a:custGeom>
                <a:avLst/>
                <a:gdLst/>
                <a:ahLst/>
                <a:cxnLst/>
                <a:rect l="l" t="t" r="r" b="b"/>
                <a:pathLst>
                  <a:path w="3748547" h="3227824">
                    <a:moveTo>
                      <a:pt x="10879" y="0"/>
                    </a:moveTo>
                    <a:lnTo>
                      <a:pt x="3737668" y="0"/>
                    </a:lnTo>
                    <a:cubicBezTo>
                      <a:pt x="3740553" y="0"/>
                      <a:pt x="3743320" y="1146"/>
                      <a:pt x="3745361" y="3186"/>
                    </a:cubicBezTo>
                    <a:cubicBezTo>
                      <a:pt x="3747401" y="5227"/>
                      <a:pt x="3748547" y="7994"/>
                      <a:pt x="3748547" y="10879"/>
                    </a:cubicBezTo>
                    <a:lnTo>
                      <a:pt x="3748547" y="3216945"/>
                    </a:lnTo>
                    <a:cubicBezTo>
                      <a:pt x="3748547" y="3222953"/>
                      <a:pt x="3743676" y="3227824"/>
                      <a:pt x="3737668" y="3227824"/>
                    </a:cubicBezTo>
                    <a:lnTo>
                      <a:pt x="10879" y="3227824"/>
                    </a:lnTo>
                    <a:cubicBezTo>
                      <a:pt x="7994" y="3227824"/>
                      <a:pt x="5227" y="3226678"/>
                      <a:pt x="3186" y="3224638"/>
                    </a:cubicBezTo>
                    <a:cubicBezTo>
                      <a:pt x="1146" y="3222597"/>
                      <a:pt x="0" y="3219830"/>
                      <a:pt x="0" y="3216945"/>
                    </a:cubicBezTo>
                    <a:lnTo>
                      <a:pt x="0" y="10879"/>
                    </a:lnTo>
                    <a:cubicBezTo>
                      <a:pt x="0" y="7994"/>
                      <a:pt x="1146" y="5227"/>
                      <a:pt x="3186" y="3186"/>
                    </a:cubicBezTo>
                    <a:cubicBezTo>
                      <a:pt x="5227" y="1146"/>
                      <a:pt x="7994" y="0"/>
                      <a:pt x="10879" y="0"/>
                    </a:cubicBezTo>
                    <a:close/>
                  </a:path>
                </a:pathLst>
              </a:custGeom>
              <a:solidFill>
                <a:srgbClr val="04001E"/>
              </a:solidFill>
              <a:ln w="38100" cap="sq">
                <a:solidFill>
                  <a:srgbClr val="E5E1DA"/>
                </a:solidFill>
                <a:prstDash val="solid"/>
                <a:miter/>
              </a:ln>
            </p:spPr>
          </p:sp>
          <p:sp>
            <p:nvSpPr>
              <p:cNvPr id="7" name="TextBox 7"/>
              <p:cNvSpPr txBox="1"/>
              <p:nvPr/>
            </p:nvSpPr>
            <p:spPr>
              <a:xfrm>
                <a:off x="0" y="-38100"/>
                <a:ext cx="3748547" cy="326592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318208" y="1102985"/>
              <a:ext cx="14483215" cy="1671320"/>
            </a:xfrm>
            <a:prstGeom prst="rect">
              <a:avLst/>
            </a:prstGeom>
          </p:spPr>
          <p:txBody>
            <a:bodyPr lIns="0" tIns="0" rIns="0" bIns="0" rtlCol="0" anchor="t">
              <a:spAutoFit/>
            </a:bodyPr>
            <a:lstStyle/>
            <a:p>
              <a:pPr algn="l">
                <a:lnSpc>
                  <a:spcPts val="8730"/>
                </a:lnSpc>
              </a:pPr>
              <a:r>
                <a:rPr lang="en-US" sz="9000">
                  <a:solidFill>
                    <a:srgbClr val="F4F4ED"/>
                  </a:solidFill>
                  <a:latin typeface="Times New Roman"/>
                  <a:ea typeface="Times New Roman"/>
                  <a:cs typeface="Times New Roman"/>
                  <a:sym typeface="Times New Roman"/>
                </a:rPr>
                <a:t>References</a:t>
              </a:r>
            </a:p>
          </p:txBody>
        </p:sp>
        <p:sp>
          <p:nvSpPr>
            <p:cNvPr id="9" name="TextBox 9"/>
            <p:cNvSpPr txBox="1"/>
            <p:nvPr/>
          </p:nvSpPr>
          <p:spPr>
            <a:xfrm>
              <a:off x="1318208" y="2726680"/>
              <a:ext cx="17161403" cy="8228834"/>
            </a:xfrm>
            <a:prstGeom prst="rect">
              <a:avLst/>
            </a:prstGeom>
          </p:spPr>
          <p:txBody>
            <a:bodyPr lIns="0" tIns="0" rIns="0" bIns="0" rtlCol="0" anchor="t">
              <a:spAutoFit/>
            </a:bodyPr>
            <a:lstStyle/>
            <a:p>
              <a:pPr marL="285750" lvl="0" indent="-285750">
                <a:buFont typeface="Arial" panose="020B0604020202020204" pitchFamily="34" charset="0"/>
                <a:buChar char="•"/>
              </a:pPr>
              <a:r>
                <a:rPr lang="en-IN" dirty="0" err="1">
                  <a:solidFill>
                    <a:schemeClr val="bg1"/>
                  </a:solidFill>
                </a:rPr>
                <a:t>Breiman</a:t>
              </a:r>
              <a:r>
                <a:rPr lang="en-IN" dirty="0">
                  <a:solidFill>
                    <a:schemeClr val="bg1"/>
                  </a:solidFill>
                </a:rPr>
                <a:t>, L. (2001) ‘Random Forests’, </a:t>
              </a:r>
              <a:r>
                <a:rPr lang="en-IN" i="1" dirty="0">
                  <a:solidFill>
                    <a:schemeClr val="bg1"/>
                  </a:solidFill>
                </a:rPr>
                <a:t>Machine Learning</a:t>
              </a:r>
              <a:r>
                <a:rPr lang="en-IN" dirty="0">
                  <a:solidFill>
                    <a:schemeClr val="bg1"/>
                  </a:solidFill>
                </a:rPr>
                <a:t>, 45(1), pp. 5–32. </a:t>
              </a:r>
              <a:r>
                <a:rPr lang="en-IN" u="sng" dirty="0">
                  <a:solidFill>
                    <a:schemeClr val="bg1"/>
                  </a:solidFill>
                  <a:hlinkClick r:id="rId4">
                    <a:extLst>
                      <a:ext uri="{A12FA001-AC4F-418D-AE19-62706E023703}">
                        <ahyp:hlinkClr xmlns:ahyp="http://schemas.microsoft.com/office/drawing/2018/hyperlinkcolor" val="tx"/>
                      </a:ext>
                    </a:extLst>
                  </a:hlinkClick>
                </a:rPr>
                <a:t>https://link.springer.com/article/10.1023/A:1010933404324</a:t>
              </a:r>
              <a:endParaRPr lang="en-IN" u="sng" dirty="0">
                <a:solidFill>
                  <a:schemeClr val="bg1"/>
                </a:solidFill>
              </a:endParaRPr>
            </a:p>
            <a:p>
              <a:pPr marL="285750" lvl="0" indent="-285750">
                <a:buFont typeface="Arial" panose="020B0604020202020204" pitchFamily="34" charset="0"/>
                <a:buChar char="•"/>
              </a:pPr>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Chen, T. and </a:t>
              </a:r>
              <a:r>
                <a:rPr lang="en-IN" dirty="0" err="1">
                  <a:solidFill>
                    <a:schemeClr val="bg1"/>
                  </a:solidFill>
                </a:rPr>
                <a:t>Guestrin</a:t>
              </a:r>
              <a:r>
                <a:rPr lang="en-IN" dirty="0">
                  <a:solidFill>
                    <a:schemeClr val="bg1"/>
                  </a:solidFill>
                </a:rPr>
                <a:t>, C. (2016) ‘</a:t>
              </a:r>
              <a:r>
                <a:rPr lang="en-IN" dirty="0" err="1">
                  <a:solidFill>
                    <a:schemeClr val="bg1"/>
                  </a:solidFill>
                </a:rPr>
                <a:t>XGBoost</a:t>
              </a:r>
              <a:r>
                <a:rPr lang="en-IN" dirty="0">
                  <a:solidFill>
                    <a:schemeClr val="bg1"/>
                  </a:solidFill>
                </a:rPr>
                <a:t>: A scalable tree boosting system’, </a:t>
              </a:r>
              <a:r>
                <a:rPr lang="en-IN" i="1" dirty="0">
                  <a:solidFill>
                    <a:schemeClr val="bg1"/>
                  </a:solidFill>
                </a:rPr>
                <a:t>Proceedings of the 22nd ACM SIGKDD International Conference on Knowledge Discovery and Data Mining</a:t>
              </a:r>
              <a:r>
                <a:rPr lang="en-IN" dirty="0">
                  <a:solidFill>
                    <a:schemeClr val="bg1"/>
                  </a:solidFill>
                </a:rPr>
                <a:t>, pp. 785–794. </a:t>
              </a:r>
              <a:r>
                <a:rPr lang="en-IN" u="sng" dirty="0">
                  <a:solidFill>
                    <a:schemeClr val="bg1"/>
                  </a:solidFill>
                  <a:hlinkClick r:id="rId5">
                    <a:extLst>
                      <a:ext uri="{A12FA001-AC4F-418D-AE19-62706E023703}">
                        <ahyp:hlinkClr xmlns:ahyp="http://schemas.microsoft.com/office/drawing/2018/hyperlinkcolor" val="tx"/>
                      </a:ext>
                    </a:extLst>
                  </a:hlinkClick>
                </a:rPr>
                <a:t>https://dl.acm.org/doi/epdf/10.1145/2939672.2939785</a:t>
              </a:r>
              <a:endParaRPr lang="en-IN" u="sng" dirty="0">
                <a:solidFill>
                  <a:schemeClr val="bg1"/>
                </a:solidFill>
              </a:endParaRPr>
            </a:p>
            <a:p>
              <a:pPr marL="285750" lvl="0" indent="-285750">
                <a:buFont typeface="Arial" panose="020B0604020202020204" pitchFamily="34" charset="0"/>
                <a:buChar char="•"/>
              </a:pPr>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Kim, S., Park, E. Prediction of flight departure delays caused by weather conditions adopting data-driven approaches. </a:t>
              </a:r>
              <a:r>
                <a:rPr lang="en-IN" i="1" dirty="0">
                  <a:solidFill>
                    <a:schemeClr val="bg1"/>
                  </a:solidFill>
                </a:rPr>
                <a:t>J Big Data</a:t>
              </a:r>
              <a:r>
                <a:rPr lang="en-IN" dirty="0">
                  <a:solidFill>
                    <a:schemeClr val="bg1"/>
                  </a:solidFill>
                </a:rPr>
                <a:t> </a:t>
              </a:r>
              <a:r>
                <a:rPr lang="en-IN" b="1" dirty="0">
                  <a:solidFill>
                    <a:schemeClr val="bg1"/>
                  </a:solidFill>
                </a:rPr>
                <a:t>11</a:t>
              </a:r>
              <a:r>
                <a:rPr lang="en-IN" dirty="0">
                  <a:solidFill>
                    <a:schemeClr val="bg1"/>
                  </a:solidFill>
                </a:rPr>
                <a:t>, 11 (2024). </a:t>
              </a:r>
              <a:r>
                <a:rPr lang="en-IN" u="sng" dirty="0">
                  <a:solidFill>
                    <a:schemeClr val="bg1"/>
                  </a:solidFill>
                  <a:hlinkClick r:id="rId6">
                    <a:extLst>
                      <a:ext uri="{A12FA001-AC4F-418D-AE19-62706E023703}">
                        <ahyp:hlinkClr xmlns:ahyp="http://schemas.microsoft.com/office/drawing/2018/hyperlinkcolor" val="tx"/>
                      </a:ext>
                    </a:extLst>
                  </a:hlinkClick>
                </a:rPr>
                <a:t>https://doi.org/10.1186/s40537-023-00867-5</a:t>
              </a:r>
              <a:endParaRPr lang="en-IN" u="sng" dirty="0">
                <a:solidFill>
                  <a:schemeClr val="bg1"/>
                </a:solidFill>
              </a:endParaRPr>
            </a:p>
            <a:p>
              <a:pPr marL="285750" lvl="0" indent="-285750">
                <a:buFont typeface="Arial" panose="020B0604020202020204" pitchFamily="34" charset="0"/>
                <a:buChar char="•"/>
              </a:pPr>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Jerome H. Friedman. "Greedy function approximation: A gradient boosting machine.." Ann. Statist. 29 (5) 1189 - 1232, October 2001.</a:t>
              </a:r>
              <a:r>
                <a:rPr lang="en-IN" u="sng" dirty="0">
                  <a:solidFill>
                    <a:schemeClr val="bg1"/>
                  </a:solidFill>
                  <a:hlinkClick r:id="rId7">
                    <a:extLst>
                      <a:ext uri="{A12FA001-AC4F-418D-AE19-62706E023703}">
                        <ahyp:hlinkClr xmlns:ahyp="http://schemas.microsoft.com/office/drawing/2018/hyperlinkcolor" val="tx"/>
                      </a:ext>
                    </a:extLst>
                  </a:hlinkClick>
                </a:rPr>
                <a:t> https://doi.org/10.1214/aos/1013203451</a:t>
              </a:r>
              <a:endParaRPr lang="en-IN" u="sng" dirty="0">
                <a:solidFill>
                  <a:schemeClr val="bg1"/>
                </a:solidFill>
              </a:endParaRPr>
            </a:p>
            <a:p>
              <a:pPr marL="285750" lvl="0" indent="-285750">
                <a:buFont typeface="Arial" panose="020B0604020202020204" pitchFamily="34" charset="0"/>
                <a:buChar char="•"/>
              </a:pPr>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Gopichand, G., Sarath, T., Devi, V.L. </a:t>
              </a:r>
              <a:r>
                <a:rPr lang="en-IN" i="1" dirty="0">
                  <a:solidFill>
                    <a:schemeClr val="bg1"/>
                  </a:solidFill>
                </a:rPr>
                <a:t>et al.</a:t>
              </a:r>
              <a:r>
                <a:rPr lang="en-IN" dirty="0">
                  <a:solidFill>
                    <a:schemeClr val="bg1"/>
                  </a:solidFill>
                </a:rPr>
                <a:t> Flight Delay Prediction Based on Delay Time Using Predictive Analytics. </a:t>
              </a:r>
              <a:r>
                <a:rPr lang="en-IN" i="1" dirty="0">
                  <a:solidFill>
                    <a:schemeClr val="bg1"/>
                  </a:solidFill>
                </a:rPr>
                <a:t>Int. J. Aeronaut. Space Sci.</a:t>
              </a:r>
              <a:r>
                <a:rPr lang="en-IN" dirty="0">
                  <a:solidFill>
                    <a:schemeClr val="bg1"/>
                  </a:solidFill>
                </a:rPr>
                <a:t> </a:t>
              </a:r>
              <a:r>
                <a:rPr lang="en-IN" b="1" dirty="0">
                  <a:solidFill>
                    <a:schemeClr val="bg1"/>
                  </a:solidFill>
                </a:rPr>
                <a:t>26</a:t>
              </a:r>
              <a:r>
                <a:rPr lang="en-IN" dirty="0">
                  <a:solidFill>
                    <a:schemeClr val="bg1"/>
                  </a:solidFill>
                </a:rPr>
                <a:t>, 1940–1953 (2025). </a:t>
              </a:r>
              <a:r>
                <a:rPr lang="en-IN" u="sng" dirty="0">
                  <a:solidFill>
                    <a:schemeClr val="bg1"/>
                  </a:solidFill>
                  <a:hlinkClick r:id="rId8">
                    <a:extLst>
                      <a:ext uri="{A12FA001-AC4F-418D-AE19-62706E023703}">
                        <ahyp:hlinkClr xmlns:ahyp="http://schemas.microsoft.com/office/drawing/2018/hyperlinkcolor" val="tx"/>
                      </a:ext>
                    </a:extLst>
                  </a:hlinkClick>
                </a:rPr>
                <a:t>https://doi.org/10.1007/s42405-024-00855-w</a:t>
              </a:r>
              <a:endParaRPr lang="en-IN" u="sng" dirty="0">
                <a:solidFill>
                  <a:schemeClr val="bg1"/>
                </a:solidFill>
              </a:endParaRPr>
            </a:p>
            <a:p>
              <a:pPr marL="285750" lvl="0" indent="-285750">
                <a:buFont typeface="Arial" panose="020B0604020202020204" pitchFamily="34" charset="0"/>
                <a:buChar char="•"/>
              </a:pPr>
              <a:endParaRPr lang="en-IN" dirty="0">
                <a:solidFill>
                  <a:schemeClr val="bg1"/>
                </a:solidFill>
              </a:endParaRPr>
            </a:p>
            <a:p>
              <a:pPr marL="285750" lvl="0" indent="-285750">
                <a:buFont typeface="Arial" panose="020B0604020202020204" pitchFamily="34" charset="0"/>
                <a:buChar char="•"/>
              </a:pPr>
              <a:r>
                <a:rPr lang="en-IN" dirty="0" err="1">
                  <a:solidFill>
                    <a:schemeClr val="bg1"/>
                  </a:solidFill>
                </a:rPr>
                <a:t>Yuemin</a:t>
              </a:r>
              <a:r>
                <a:rPr lang="en-IN" dirty="0">
                  <a:solidFill>
                    <a:schemeClr val="bg1"/>
                  </a:solidFill>
                </a:rPr>
                <a:t> Tang. 2021. Airline Flight Delay Prediction Using Machine Learning Models. In </a:t>
              </a:r>
              <a:r>
                <a:rPr lang="en-IN" i="1" dirty="0">
                  <a:solidFill>
                    <a:schemeClr val="bg1"/>
                  </a:solidFill>
                </a:rPr>
                <a:t>2021 5th International Conference on E-Business and Internet (ICEBI 2021), October 15-17, 2021, Singapore, Singapore</a:t>
              </a:r>
              <a:r>
                <a:rPr lang="en-IN" dirty="0">
                  <a:solidFill>
                    <a:schemeClr val="bg1"/>
                  </a:solidFill>
                </a:rPr>
                <a:t>. ACM, New York, NY, USA, 7 Pages. </a:t>
              </a:r>
              <a:r>
                <a:rPr lang="en-IN" u="sng" dirty="0">
                  <a:solidFill>
                    <a:schemeClr val="bg1"/>
                  </a:solidFill>
                  <a:hlinkClick r:id="rId9">
                    <a:extLst>
                      <a:ext uri="{A12FA001-AC4F-418D-AE19-62706E023703}">
                        <ahyp:hlinkClr xmlns:ahyp="http://schemas.microsoft.com/office/drawing/2018/hyperlinkcolor" val="tx"/>
                      </a:ext>
                    </a:extLst>
                  </a:hlinkClick>
                </a:rPr>
                <a:t>https://doi.org/10.1145/3497701.3497725</a:t>
              </a:r>
              <a:endParaRPr lang="en-IN" u="sng" dirty="0">
                <a:solidFill>
                  <a:schemeClr val="bg1"/>
                </a:solidFill>
              </a:endParaRPr>
            </a:p>
            <a:p>
              <a:pPr marL="285750" lvl="0" indent="-285750">
                <a:buFont typeface="Arial" panose="020B0604020202020204" pitchFamily="34" charset="0"/>
                <a:buChar char="•"/>
              </a:pPr>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Alla, H., Arezki, S., </a:t>
              </a:r>
              <a:r>
                <a:rPr lang="en-IN" dirty="0" err="1">
                  <a:solidFill>
                    <a:schemeClr val="bg1"/>
                  </a:solidFill>
                </a:rPr>
                <a:t>Moumoun</a:t>
              </a:r>
              <a:r>
                <a:rPr lang="en-IN" dirty="0">
                  <a:solidFill>
                    <a:schemeClr val="bg1"/>
                  </a:solidFill>
                </a:rPr>
                <a:t>, L., </a:t>
              </a:r>
              <a:r>
                <a:rPr lang="en-IN" dirty="0" err="1">
                  <a:solidFill>
                    <a:schemeClr val="bg1"/>
                  </a:solidFill>
                </a:rPr>
                <a:t>Balouki</a:t>
              </a:r>
              <a:r>
                <a:rPr lang="en-IN" dirty="0">
                  <a:solidFill>
                    <a:schemeClr val="bg1"/>
                  </a:solidFill>
                </a:rPr>
                <a:t>, Y. (2025). A Machine Learning Approach to </a:t>
              </a:r>
              <a:r>
                <a:rPr lang="en-IN" dirty="0" err="1">
                  <a:solidFill>
                    <a:schemeClr val="bg1"/>
                  </a:solidFill>
                </a:rPr>
                <a:t>Analyze</a:t>
              </a:r>
              <a:r>
                <a:rPr lang="en-IN" dirty="0">
                  <a:solidFill>
                    <a:schemeClr val="bg1"/>
                  </a:solidFill>
                </a:rPr>
                <a:t> Flight Delays Causal Factors: A Predictive System. In: Arezki, S., </a:t>
              </a:r>
              <a:r>
                <a:rPr lang="en-IN" dirty="0" err="1">
                  <a:solidFill>
                    <a:schemeClr val="bg1"/>
                  </a:solidFill>
                </a:rPr>
                <a:t>Ouaissa</a:t>
              </a:r>
              <a:r>
                <a:rPr lang="en-IN" dirty="0">
                  <a:solidFill>
                    <a:schemeClr val="bg1"/>
                  </a:solidFill>
                </a:rPr>
                <a:t>, M., </a:t>
              </a:r>
              <a:r>
                <a:rPr lang="en-IN" dirty="0" err="1">
                  <a:solidFill>
                    <a:schemeClr val="bg1"/>
                  </a:solidFill>
                </a:rPr>
                <a:t>Ouaissa</a:t>
              </a:r>
              <a:r>
                <a:rPr lang="en-IN" dirty="0">
                  <a:solidFill>
                    <a:schemeClr val="bg1"/>
                  </a:solidFill>
                </a:rPr>
                <a:t>, M., </a:t>
              </a:r>
              <a:r>
                <a:rPr lang="en-IN" dirty="0" err="1">
                  <a:solidFill>
                    <a:schemeClr val="bg1"/>
                  </a:solidFill>
                </a:rPr>
                <a:t>Krichen</a:t>
              </a:r>
              <a:r>
                <a:rPr lang="en-IN" dirty="0">
                  <a:solidFill>
                    <a:schemeClr val="bg1"/>
                  </a:solidFill>
                </a:rPr>
                <a:t>, M., Nayyar, A. (eds) Emerging Disruptive Technologies for Society 5.0 in Developing Countries. Advances in Science, Technology &amp; Innovation. Springer, Cham. </a:t>
              </a:r>
              <a:r>
                <a:rPr lang="en-IN" u="sng" dirty="0">
                  <a:solidFill>
                    <a:schemeClr val="bg1"/>
                  </a:solidFill>
                  <a:hlinkClick r:id="rId10">
                    <a:extLst>
                      <a:ext uri="{A12FA001-AC4F-418D-AE19-62706E023703}">
                        <ahyp:hlinkClr xmlns:ahyp="http://schemas.microsoft.com/office/drawing/2018/hyperlinkcolor" val="tx"/>
                      </a:ext>
                    </a:extLst>
                  </a:hlinkClick>
                </a:rPr>
                <a:t>https://doi.org/10.1007/978-3-031-63701-8_4</a:t>
              </a:r>
              <a:endParaRPr lang="en-IN" dirty="0">
                <a:solidFill>
                  <a:schemeClr val="bg1"/>
                </a:solidFill>
              </a:endParaRPr>
            </a:p>
            <a:p>
              <a:pPr marL="342900" indent="-342900">
                <a:lnSpc>
                  <a:spcPts val="2969"/>
                </a:lnSpc>
                <a:buFont typeface="Arial" panose="020B0604020202020204" pitchFamily="34" charset="0"/>
                <a:buChar char="•"/>
              </a:pPr>
              <a:endParaRPr lang="en-US" sz="2199" spc="131" dirty="0">
                <a:solidFill>
                  <a:schemeClr val="bg1"/>
                </a:solidFill>
                <a:latin typeface="Times New Roman"/>
                <a:ea typeface="Times New Roman"/>
                <a:cs typeface="Times New Roman"/>
                <a:sym typeface="Times New Roman"/>
              </a:endParaRPr>
            </a:p>
          </p:txBody>
        </p:sp>
      </p:grpSp>
      <p:sp>
        <p:nvSpPr>
          <p:cNvPr id="10" name="Freeform 10"/>
          <p:cNvSpPr/>
          <p:nvPr/>
        </p:nvSpPr>
        <p:spPr>
          <a:xfrm>
            <a:off x="17259300" y="9258300"/>
            <a:ext cx="896420" cy="896420"/>
          </a:xfrm>
          <a:custGeom>
            <a:avLst/>
            <a:gdLst/>
            <a:ahLst/>
            <a:cxnLst/>
            <a:rect l="l" t="t" r="r" b="b"/>
            <a:pathLst>
              <a:path w="896420" h="896420">
                <a:moveTo>
                  <a:pt x="0" y="0"/>
                </a:moveTo>
                <a:lnTo>
                  <a:pt x="896420" y="0"/>
                </a:lnTo>
                <a:lnTo>
                  <a:pt x="896420" y="896420"/>
                </a:lnTo>
                <a:lnTo>
                  <a:pt x="0" y="896420"/>
                </a:lnTo>
                <a:lnTo>
                  <a:pt x="0" y="0"/>
                </a:lnTo>
                <a:close/>
              </a:path>
            </a:pathLst>
          </a:custGeom>
          <a:blipFill>
            <a:blip>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3339660" y="4432794"/>
            <a:ext cx="11608680" cy="1821461"/>
          </a:xfrm>
          <a:prstGeom prst="rect">
            <a:avLst/>
          </a:prstGeom>
        </p:spPr>
        <p:txBody>
          <a:bodyPr lIns="0" tIns="0" rIns="0" bIns="0" rtlCol="0" anchor="t">
            <a:spAutoFit/>
          </a:bodyPr>
          <a:lstStyle/>
          <a:p>
            <a:pPr algn="l">
              <a:lnSpc>
                <a:spcPts val="12699"/>
              </a:lnSpc>
            </a:pPr>
            <a:r>
              <a:rPr lang="en-US" sz="14597">
                <a:solidFill>
                  <a:srgbClr val="FFFFFF"/>
                </a:solidFill>
                <a:latin typeface="Times New Roman"/>
                <a:ea typeface="Times New Roman"/>
                <a:cs typeface="Times New Roman"/>
                <a:sym typeface="Times New Roman"/>
              </a:rPr>
              <a:t>THANK YOU</a:t>
            </a:r>
          </a:p>
        </p:txBody>
      </p:sp>
      <p:sp>
        <p:nvSpPr>
          <p:cNvPr id="4" name="Freeform 4"/>
          <p:cNvSpPr/>
          <p:nvPr/>
        </p:nvSpPr>
        <p:spPr>
          <a:xfrm rot="10435729">
            <a:off x="-3241105" y="-2477065"/>
            <a:ext cx="7951775" cy="8527373"/>
          </a:xfrm>
          <a:custGeom>
            <a:avLst/>
            <a:gdLst/>
            <a:ahLst/>
            <a:cxnLst/>
            <a:rect l="l" t="t" r="r" b="b"/>
            <a:pathLst>
              <a:path w="7951775" h="8527373">
                <a:moveTo>
                  <a:pt x="0" y="0"/>
                </a:moveTo>
                <a:lnTo>
                  <a:pt x="7951775" y="0"/>
                </a:lnTo>
                <a:lnTo>
                  <a:pt x="7951775" y="8527373"/>
                </a:lnTo>
                <a:lnTo>
                  <a:pt x="0" y="8527373"/>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1779</Words>
  <Application>Microsoft Office PowerPoint</Application>
  <PresentationFormat>Custom</PresentationFormat>
  <Paragraphs>164</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Arial</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Flight_Delay_Prediction__24077147</dc:title>
  <dc:creator>Dharanidhar Beere</dc:creator>
  <cp:lastModifiedBy>Rohith Reddy</cp:lastModifiedBy>
  <cp:revision>2</cp:revision>
  <dcterms:created xsi:type="dcterms:W3CDTF">2006-08-16T00:00:00Z</dcterms:created>
  <dcterms:modified xsi:type="dcterms:W3CDTF">2026-04-21T20:34:00Z</dcterms:modified>
  <dc:identifier>DAHE28SrLb4</dc:identifier>
</cp:coreProperties>
</file>